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87" r:id="rId2"/>
    <p:sldId id="388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3" r:id="rId15"/>
    <p:sldId id="402" r:id="rId16"/>
    <p:sldId id="404" r:id="rId17"/>
    <p:sldId id="405" r:id="rId18"/>
    <p:sldId id="41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</p:sldIdLst>
  <p:sldSz cx="24384000" cy="13716000"/>
  <p:notesSz cx="6858000" cy="9144000"/>
  <p:defaultTextStyle>
    <a:lvl1pPr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1pPr>
    <a:lvl2pPr indent="228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2pPr>
    <a:lvl3pPr indent="457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3pPr>
    <a:lvl4pPr indent="685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4pPr>
    <a:lvl5pPr indent="9144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5pPr>
    <a:lvl6pPr indent="11430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6pPr>
    <a:lvl7pPr indent="13716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7pPr>
    <a:lvl8pPr indent="16002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8pPr>
    <a:lvl9pPr indent="1828800" algn="ctr" defTabSz="584200">
      <a:defRPr sz="3600">
        <a:solidFill>
          <a:srgbClr val="FFFFFF"/>
        </a:solidFill>
        <a:latin typeface="Lato Bold"/>
        <a:ea typeface="Lato Bold"/>
        <a:cs typeface="Lato Bold"/>
        <a:sym typeface="Lato Bold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00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35" autoAdjust="0"/>
    <p:restoredTop sz="94704"/>
  </p:normalViewPr>
  <p:slideViewPr>
    <p:cSldViewPr snapToGrid="0" snapToObjects="1">
      <p:cViewPr varScale="1">
        <p:scale>
          <a:sx n="32" d="100"/>
          <a:sy n="32" d="100"/>
        </p:scale>
        <p:origin x="-754" y="-91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 Computer Academy" userId="08476b32c11f4418" providerId="LiveId" clId="{4615F5D9-81FF-46E7-B5FB-88942D694295}"/>
    <pc:docChg chg="modSld">
      <pc:chgData name="Sharma Computer Academy" userId="08476b32c11f4418" providerId="LiveId" clId="{4615F5D9-81FF-46E7-B5FB-88942D694295}" dt="2021-06-23T07:21:02.348" v="74" actId="20577"/>
      <pc:docMkLst>
        <pc:docMk/>
      </pc:docMkLst>
      <pc:sldChg chg="modSp mod">
        <pc:chgData name="Sharma Computer Academy" userId="08476b32c11f4418" providerId="LiveId" clId="{4615F5D9-81FF-46E7-B5FB-88942D694295}" dt="2021-06-21T06:22:35.668" v="71" actId="20577"/>
        <pc:sldMkLst>
          <pc:docMk/>
          <pc:sldMk cId="0" sldId="392"/>
        </pc:sldMkLst>
        <pc:spChg chg="mod">
          <ac:chgData name="Sharma Computer Academy" userId="08476b32c11f4418" providerId="LiveId" clId="{4615F5D9-81FF-46E7-B5FB-88942D694295}" dt="2021-06-21T06:21:49.404" v="26" actId="1076"/>
          <ac:spMkLst>
            <pc:docMk/>
            <pc:sldMk cId="0" sldId="392"/>
            <ac:spMk id="17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1:26.773" v="7" actId="20577"/>
          <ac:spMkLst>
            <pc:docMk/>
            <pc:sldMk cId="0" sldId="392"/>
            <ac:spMk id="18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1:30.950" v="14" actId="20577"/>
          <ac:spMkLst>
            <pc:docMk/>
            <pc:sldMk cId="0" sldId="392"/>
            <ac:spMk id="19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1:42.558" v="25" actId="20577"/>
          <ac:spMkLst>
            <pc:docMk/>
            <pc:sldMk cId="0" sldId="392"/>
            <ac:spMk id="20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2:11.972" v="39" actId="20577"/>
          <ac:spMkLst>
            <pc:docMk/>
            <pc:sldMk cId="0" sldId="392"/>
            <ac:spMk id="21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2:20.873" v="57" actId="20577"/>
          <ac:spMkLst>
            <pc:docMk/>
            <pc:sldMk cId="0" sldId="392"/>
            <ac:spMk id="22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2:24.072" v="64" actId="20577"/>
          <ac:spMkLst>
            <pc:docMk/>
            <pc:sldMk cId="0" sldId="392"/>
            <ac:spMk id="23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2:15.723" v="48" actId="20577"/>
          <ac:spMkLst>
            <pc:docMk/>
            <pc:sldMk cId="0" sldId="392"/>
            <ac:spMk id="24" creationId="{00000000-0000-0000-0000-000000000000}"/>
          </ac:spMkLst>
        </pc:spChg>
        <pc:spChg chg="mod">
          <ac:chgData name="Sharma Computer Academy" userId="08476b32c11f4418" providerId="LiveId" clId="{4615F5D9-81FF-46E7-B5FB-88942D694295}" dt="2021-06-21T06:22:35.668" v="71" actId="20577"/>
          <ac:spMkLst>
            <pc:docMk/>
            <pc:sldMk cId="0" sldId="392"/>
            <ac:spMk id="25" creationId="{00000000-0000-0000-0000-000000000000}"/>
          </ac:spMkLst>
        </pc:spChg>
      </pc:sldChg>
      <pc:sldChg chg="modSp">
        <pc:chgData name="Sharma Computer Academy" userId="08476b32c11f4418" providerId="LiveId" clId="{4615F5D9-81FF-46E7-B5FB-88942D694295}" dt="2021-06-22T16:38:10.149" v="73" actId="20577"/>
        <pc:sldMkLst>
          <pc:docMk/>
          <pc:sldMk cId="0" sldId="399"/>
        </pc:sldMkLst>
        <pc:spChg chg="mod">
          <ac:chgData name="Sharma Computer Academy" userId="08476b32c11f4418" providerId="LiveId" clId="{4615F5D9-81FF-46E7-B5FB-88942D694295}" dt="2021-06-22T16:38:10.149" v="73" actId="20577"/>
          <ac:spMkLst>
            <pc:docMk/>
            <pc:sldMk cId="0" sldId="399"/>
            <ac:spMk id="5" creationId="{00000000-0000-0000-0000-000000000000}"/>
          </ac:spMkLst>
        </pc:spChg>
      </pc:sldChg>
      <pc:sldChg chg="modSp">
        <pc:chgData name="Sharma Computer Academy" userId="08476b32c11f4418" providerId="LiveId" clId="{4615F5D9-81FF-46E7-B5FB-88942D694295}" dt="2021-06-23T07:21:02.348" v="74" actId="20577"/>
        <pc:sldMkLst>
          <pc:docMk/>
          <pc:sldMk cId="0" sldId="414"/>
        </pc:sldMkLst>
        <pc:spChg chg="mod">
          <ac:chgData name="Sharma Computer Academy" userId="08476b32c11f4418" providerId="LiveId" clId="{4615F5D9-81FF-46E7-B5FB-88942D694295}" dt="2021-06-23T07:21:02.348" v="74" actId="20577"/>
          <ac:spMkLst>
            <pc:docMk/>
            <pc:sldMk cId="0" sldId="414"/>
            <ac:spMk id="6" creationId="{00000000-0000-0000-0000-000000000000}"/>
          </ac:spMkLst>
        </pc:spChg>
      </pc:sldChg>
    </pc:docChg>
  </pc:docChgLst>
  <pc:docChgLst>
    <pc:chgData name="Sharma Computer Academy" userId="08476b32c11f4418" providerId="LiveId" clId="{D7877CAD-9F5C-437E-B602-2A513A21129C}"/>
    <pc:docChg chg="modSld">
      <pc:chgData name="Sharma Computer Academy" userId="08476b32c11f4418" providerId="LiveId" clId="{D7877CAD-9F5C-437E-B602-2A513A21129C}" dt="2022-01-28T11:15:33.951" v="115" actId="6549"/>
      <pc:docMkLst>
        <pc:docMk/>
      </pc:docMkLst>
      <pc:sldChg chg="modSp mod">
        <pc:chgData name="Sharma Computer Academy" userId="08476b32c11f4418" providerId="LiveId" clId="{D7877CAD-9F5C-437E-B602-2A513A21129C}" dt="2022-01-28T11:12:15.368" v="2" actId="20577"/>
        <pc:sldMkLst>
          <pc:docMk/>
          <pc:sldMk cId="0" sldId="390"/>
        </pc:sldMkLst>
        <pc:spChg chg="mod">
          <ac:chgData name="Sharma Computer Academy" userId="08476b32c11f4418" providerId="LiveId" clId="{D7877CAD-9F5C-437E-B602-2A513A21129C}" dt="2022-01-28T11:12:12.942" v="1" actId="14100"/>
          <ac:spMkLst>
            <pc:docMk/>
            <pc:sldMk cId="0" sldId="390"/>
            <ac:spMk id="680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2:15.368" v="2" actId="20577"/>
          <ac:spMkLst>
            <pc:docMk/>
            <pc:sldMk cId="0" sldId="390"/>
            <ac:spMk id="695" creationId="{00000000-0000-0000-0000-000000000000}"/>
          </ac:spMkLst>
        </pc:spChg>
      </pc:sldChg>
      <pc:sldChg chg="modSp">
        <pc:chgData name="Sharma Computer Academy" userId="08476b32c11f4418" providerId="LiveId" clId="{D7877CAD-9F5C-437E-B602-2A513A21129C}" dt="2022-01-28T11:13:03.108" v="19" actId="20577"/>
        <pc:sldMkLst>
          <pc:docMk/>
          <pc:sldMk cId="0" sldId="391"/>
        </pc:sldMkLst>
        <pc:spChg chg="mod">
          <ac:chgData name="Sharma Computer Academy" userId="08476b32c11f4418" providerId="LiveId" clId="{D7877CAD-9F5C-437E-B602-2A513A21129C}" dt="2022-01-28T11:13:00.839" v="17" actId="20577"/>
          <ac:spMkLst>
            <pc:docMk/>
            <pc:sldMk cId="0" sldId="391"/>
            <ac:spMk id="18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2:59.218" v="16" actId="20577"/>
          <ac:spMkLst>
            <pc:docMk/>
            <pc:sldMk cId="0" sldId="391"/>
            <ac:spMk id="19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2:57.706" v="15" actId="20577"/>
          <ac:spMkLst>
            <pc:docMk/>
            <pc:sldMk cId="0" sldId="391"/>
            <ac:spMk id="20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2:55.930" v="14" actId="20577"/>
          <ac:spMkLst>
            <pc:docMk/>
            <pc:sldMk cId="0" sldId="391"/>
            <ac:spMk id="22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3:03.108" v="19" actId="20577"/>
          <ac:spMkLst>
            <pc:docMk/>
            <pc:sldMk cId="0" sldId="391"/>
            <ac:spMk id="23" creationId="{00000000-0000-0000-0000-000000000000}"/>
          </ac:spMkLst>
        </pc:spChg>
      </pc:sldChg>
      <pc:sldChg chg="modSp">
        <pc:chgData name="Sharma Computer Academy" userId="08476b32c11f4418" providerId="LiveId" clId="{D7877CAD-9F5C-437E-B602-2A513A21129C}" dt="2022-01-28T11:15:33.951" v="115" actId="6549"/>
        <pc:sldMkLst>
          <pc:docMk/>
          <pc:sldMk cId="0" sldId="392"/>
        </pc:sldMkLst>
        <pc:spChg chg="mod">
          <ac:chgData name="Sharma Computer Academy" userId="08476b32c11f4418" providerId="LiveId" clId="{D7877CAD-9F5C-437E-B602-2A513A21129C}" dt="2022-01-28T11:14:21.424" v="63" actId="6549"/>
          <ac:spMkLst>
            <pc:docMk/>
            <pc:sldMk cId="0" sldId="392"/>
            <ac:spMk id="18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5:02.058" v="84" actId="20577"/>
          <ac:spMkLst>
            <pc:docMk/>
            <pc:sldMk cId="0" sldId="392"/>
            <ac:spMk id="19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4:32.690" v="74" actId="6549"/>
          <ac:spMkLst>
            <pc:docMk/>
            <pc:sldMk cId="0" sldId="392"/>
            <ac:spMk id="20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4:57.093" v="83" actId="20577"/>
          <ac:spMkLst>
            <pc:docMk/>
            <pc:sldMk cId="0" sldId="392"/>
            <ac:spMk id="21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5:21.655" v="106" actId="6549"/>
          <ac:spMkLst>
            <pc:docMk/>
            <pc:sldMk cId="0" sldId="392"/>
            <ac:spMk id="22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5:27.938" v="112" actId="6549"/>
          <ac:spMkLst>
            <pc:docMk/>
            <pc:sldMk cId="0" sldId="392"/>
            <ac:spMk id="23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5:12.189" v="95" actId="6549"/>
          <ac:spMkLst>
            <pc:docMk/>
            <pc:sldMk cId="0" sldId="392"/>
            <ac:spMk id="24" creationId="{00000000-0000-0000-0000-000000000000}"/>
          </ac:spMkLst>
        </pc:spChg>
        <pc:spChg chg="mod">
          <ac:chgData name="Sharma Computer Academy" userId="08476b32c11f4418" providerId="LiveId" clId="{D7877CAD-9F5C-437E-B602-2A513A21129C}" dt="2022-01-28T11:15:33.951" v="115" actId="6549"/>
          <ac:spMkLst>
            <pc:docMk/>
            <pc:sldMk cId="0" sldId="392"/>
            <ac:spMk id="25" creationId="{00000000-0000-0000-0000-000000000000}"/>
          </ac:spMkLst>
        </pc:spChg>
      </pc:sldChg>
    </pc:docChg>
  </pc:docChgLst>
  <pc:docChgLst>
    <pc:chgData name="Sharma Computer Academy" userId="08476b32c11f4418" providerId="LiveId" clId="{6651CE90-9840-4D00-9B67-52D853BD59B5}"/>
    <pc:docChg chg="modSld">
      <pc:chgData name="Sharma Computer Academy" userId="08476b32c11f4418" providerId="LiveId" clId="{6651CE90-9840-4D00-9B67-52D853BD59B5}" dt="2021-01-19T15:37:35.136" v="0" actId="20577"/>
      <pc:docMkLst>
        <pc:docMk/>
      </pc:docMkLst>
      <pc:sldChg chg="modSp">
        <pc:chgData name="Sharma Computer Academy" userId="08476b32c11f4418" providerId="LiveId" clId="{6651CE90-9840-4D00-9B67-52D853BD59B5}" dt="2021-01-19T15:37:35.136" v="0" actId="20577"/>
        <pc:sldMkLst>
          <pc:docMk/>
          <pc:sldMk cId="0" sldId="414"/>
        </pc:sldMkLst>
        <pc:spChg chg="mod">
          <ac:chgData name="Sharma Computer Academy" userId="08476b32c11f4418" providerId="LiveId" clId="{6651CE90-9840-4D00-9B67-52D853BD59B5}" dt="2021-01-19T15:37:35.136" v="0" actId="20577"/>
          <ac:spMkLst>
            <pc:docMk/>
            <pc:sldMk cId="0" sldId="414"/>
            <ac:spMk id="6" creationId="{00000000-0000-0000-0000-000000000000}"/>
          </ac:spMkLst>
        </pc:spChg>
      </pc:sldChg>
    </pc:docChg>
  </pc:docChgLst>
  <pc:docChgLst>
    <pc:chgData name="Sharma Computer Academy" userId="08476b32c11f4418" providerId="LiveId" clId="{579EF4E7-C064-4495-B0BE-01085850F3A4}"/>
    <pc:docChg chg="modSld">
      <pc:chgData name="Sharma Computer Academy" userId="08476b32c11f4418" providerId="LiveId" clId="{579EF4E7-C064-4495-B0BE-01085850F3A4}" dt="2022-12-02T07:24:56.438" v="179" actId="113"/>
      <pc:docMkLst>
        <pc:docMk/>
      </pc:docMkLst>
      <pc:sldChg chg="modSp mod">
        <pc:chgData name="Sharma Computer Academy" userId="08476b32c11f4418" providerId="LiveId" clId="{579EF4E7-C064-4495-B0BE-01085850F3A4}" dt="2022-12-02T05:26:16.936" v="33" actId="20577"/>
        <pc:sldMkLst>
          <pc:docMk/>
          <pc:sldMk cId="0" sldId="393"/>
        </pc:sldMkLst>
        <pc:spChg chg="mod">
          <ac:chgData name="Sharma Computer Academy" userId="08476b32c11f4418" providerId="LiveId" clId="{579EF4E7-C064-4495-B0BE-01085850F3A4}" dt="2022-12-02T05:26:16.936" v="33" actId="20577"/>
          <ac:spMkLst>
            <pc:docMk/>
            <pc:sldMk cId="0" sldId="393"/>
            <ac:spMk id="5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5:44.888" v="13" actId="6549"/>
          <ac:spMkLst>
            <pc:docMk/>
            <pc:sldMk cId="0" sldId="393"/>
            <ac:spMk id="18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5:54.218" v="21" actId="6549"/>
          <ac:spMkLst>
            <pc:docMk/>
            <pc:sldMk cId="0" sldId="393"/>
            <ac:spMk id="19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6:06.065" v="32" actId="6549"/>
          <ac:spMkLst>
            <pc:docMk/>
            <pc:sldMk cId="0" sldId="393"/>
            <ac:spMk id="20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5:27:06.646" v="81" actId="20577"/>
        <pc:sldMkLst>
          <pc:docMk/>
          <pc:sldMk cId="0" sldId="394"/>
        </pc:sldMkLst>
        <pc:spChg chg="mod">
          <ac:chgData name="Sharma Computer Academy" userId="08476b32c11f4418" providerId="LiveId" clId="{579EF4E7-C064-4495-B0BE-01085850F3A4}" dt="2022-12-02T05:26:55.316" v="68" actId="6549"/>
          <ac:spMkLst>
            <pc:docMk/>
            <pc:sldMk cId="0" sldId="394"/>
            <ac:spMk id="18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6:35.620" v="48" actId="20577"/>
          <ac:spMkLst>
            <pc:docMk/>
            <pc:sldMk cId="0" sldId="394"/>
            <ac:spMk id="19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6:44.475" v="59" actId="20577"/>
          <ac:spMkLst>
            <pc:docMk/>
            <pc:sldMk cId="0" sldId="394"/>
            <ac:spMk id="20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6:51.133" v="67" actId="6549"/>
          <ac:spMkLst>
            <pc:docMk/>
            <pc:sldMk cId="0" sldId="394"/>
            <ac:spMk id="21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7:06.646" v="81" actId="20577"/>
          <ac:spMkLst>
            <pc:docMk/>
            <pc:sldMk cId="0" sldId="394"/>
            <ac:spMk id="22" creationId="{00000000-0000-0000-0000-000000000000}"/>
          </ac:spMkLst>
        </pc:spChg>
        <pc:spChg chg="mod">
          <ac:chgData name="Sharma Computer Academy" userId="08476b32c11f4418" providerId="LiveId" clId="{579EF4E7-C064-4495-B0BE-01085850F3A4}" dt="2022-12-02T05:27:02.963" v="74" actId="20577"/>
          <ac:spMkLst>
            <pc:docMk/>
            <pc:sldMk cId="0" sldId="394"/>
            <ac:spMk id="24" creationId="{00000000-0000-0000-0000-000000000000}"/>
          </ac:spMkLst>
        </pc:spChg>
      </pc:sldChg>
      <pc:sldChg chg="modSp mod">
        <pc:chgData name="Sharma Computer Academy" userId="08476b32c11f4418" providerId="LiveId" clId="{579EF4E7-C064-4495-B0BE-01085850F3A4}" dt="2022-12-02T06:02:00.553" v="104" actId="113"/>
        <pc:sldMkLst>
          <pc:docMk/>
          <pc:sldMk cId="0" sldId="395"/>
        </pc:sldMkLst>
        <pc:spChg chg="mod">
          <ac:chgData name="Sharma Computer Academy" userId="08476b32c11f4418" providerId="LiveId" clId="{579EF4E7-C064-4495-B0BE-01085850F3A4}" dt="2022-12-02T06:02:00.553" v="104" actId="113"/>
          <ac:spMkLst>
            <pc:docMk/>
            <pc:sldMk cId="0" sldId="395"/>
            <ac:spMk id="8" creationId="{00000000-0000-0000-0000-000000000000}"/>
          </ac:spMkLst>
        </pc:spChg>
      </pc:sldChg>
      <pc:sldChg chg="modSp mod">
        <pc:chgData name="Sharma Computer Academy" userId="08476b32c11f4418" providerId="LiveId" clId="{579EF4E7-C064-4495-B0BE-01085850F3A4}" dt="2022-12-02T05:56:52.990" v="100" actId="14100"/>
        <pc:sldMkLst>
          <pc:docMk/>
          <pc:sldMk cId="0" sldId="396"/>
        </pc:sldMkLst>
        <pc:spChg chg="mod">
          <ac:chgData name="Sharma Computer Academy" userId="08476b32c11f4418" providerId="LiveId" clId="{579EF4E7-C064-4495-B0BE-01085850F3A4}" dt="2022-12-02T05:56:52.990" v="100" actId="14100"/>
          <ac:spMkLst>
            <pc:docMk/>
            <pc:sldMk cId="0" sldId="396"/>
            <ac:spMk id="10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6:03:27.039" v="117" actId="115"/>
        <pc:sldMkLst>
          <pc:docMk/>
          <pc:sldMk cId="0" sldId="397"/>
        </pc:sldMkLst>
        <pc:spChg chg="mod">
          <ac:chgData name="Sharma Computer Academy" userId="08476b32c11f4418" providerId="LiveId" clId="{579EF4E7-C064-4495-B0BE-01085850F3A4}" dt="2022-12-02T06:03:27.039" v="117" actId="115"/>
          <ac:spMkLst>
            <pc:docMk/>
            <pc:sldMk cId="0" sldId="397"/>
            <ac:spMk id="8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6:07:18.183" v="128" actId="113"/>
        <pc:sldMkLst>
          <pc:docMk/>
          <pc:sldMk cId="0" sldId="398"/>
        </pc:sldMkLst>
        <pc:spChg chg="mod">
          <ac:chgData name="Sharma Computer Academy" userId="08476b32c11f4418" providerId="LiveId" clId="{579EF4E7-C064-4495-B0BE-01085850F3A4}" dt="2022-12-02T06:07:18.183" v="128" actId="113"/>
          <ac:spMkLst>
            <pc:docMk/>
            <pc:sldMk cId="0" sldId="398"/>
            <ac:spMk id="8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6:39:17.685" v="143" actId="6549"/>
        <pc:sldMkLst>
          <pc:docMk/>
          <pc:sldMk cId="0" sldId="400"/>
        </pc:sldMkLst>
        <pc:spChg chg="mod">
          <ac:chgData name="Sharma Computer Academy" userId="08476b32c11f4418" providerId="LiveId" clId="{579EF4E7-C064-4495-B0BE-01085850F3A4}" dt="2022-12-02T06:39:17.685" v="143" actId="6549"/>
          <ac:spMkLst>
            <pc:docMk/>
            <pc:sldMk cId="0" sldId="400"/>
            <ac:spMk id="8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6:48:25.249" v="144" actId="20577"/>
        <pc:sldMkLst>
          <pc:docMk/>
          <pc:sldMk cId="0" sldId="404"/>
        </pc:sldMkLst>
        <pc:spChg chg="mod">
          <ac:chgData name="Sharma Computer Academy" userId="08476b32c11f4418" providerId="LiveId" clId="{579EF4E7-C064-4495-B0BE-01085850F3A4}" dt="2022-12-02T06:48:25.249" v="144" actId="20577"/>
          <ac:spMkLst>
            <pc:docMk/>
            <pc:sldMk cId="0" sldId="404"/>
            <ac:spMk id="13" creationId="{00000000-0000-0000-0000-000000000000}"/>
          </ac:spMkLst>
        </pc:spChg>
      </pc:sldChg>
      <pc:sldChg chg="modSp mod">
        <pc:chgData name="Sharma Computer Academy" userId="08476b32c11f4418" providerId="LiveId" clId="{579EF4E7-C064-4495-B0BE-01085850F3A4}" dt="2022-12-02T07:21:14.768" v="162" actId="113"/>
        <pc:sldMkLst>
          <pc:docMk/>
          <pc:sldMk cId="0" sldId="408"/>
        </pc:sldMkLst>
        <pc:spChg chg="mod">
          <ac:chgData name="Sharma Computer Academy" userId="08476b32c11f4418" providerId="LiveId" clId="{579EF4E7-C064-4495-B0BE-01085850F3A4}" dt="2022-12-02T07:21:14.768" v="162" actId="113"/>
          <ac:spMkLst>
            <pc:docMk/>
            <pc:sldMk cId="0" sldId="408"/>
            <ac:spMk id="8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7:21:25.262" v="164" actId="113"/>
        <pc:sldMkLst>
          <pc:docMk/>
          <pc:sldMk cId="0" sldId="410"/>
        </pc:sldMkLst>
        <pc:spChg chg="mod">
          <ac:chgData name="Sharma Computer Academy" userId="08476b32c11f4418" providerId="LiveId" clId="{579EF4E7-C064-4495-B0BE-01085850F3A4}" dt="2022-12-02T07:21:25.262" v="164" actId="113"/>
          <ac:spMkLst>
            <pc:docMk/>
            <pc:sldMk cId="0" sldId="410"/>
            <ac:spMk id="8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7:21:54.671" v="170" actId="113"/>
        <pc:sldMkLst>
          <pc:docMk/>
          <pc:sldMk cId="0" sldId="412"/>
        </pc:sldMkLst>
        <pc:spChg chg="mod">
          <ac:chgData name="Sharma Computer Academy" userId="08476b32c11f4418" providerId="LiveId" clId="{579EF4E7-C064-4495-B0BE-01085850F3A4}" dt="2022-12-02T07:21:54.671" v="170" actId="113"/>
          <ac:spMkLst>
            <pc:docMk/>
            <pc:sldMk cId="0" sldId="412"/>
            <ac:spMk id="8" creationId="{00000000-0000-0000-0000-000000000000}"/>
          </ac:spMkLst>
        </pc:spChg>
      </pc:sldChg>
      <pc:sldChg chg="modSp">
        <pc:chgData name="Sharma Computer Academy" userId="08476b32c11f4418" providerId="LiveId" clId="{579EF4E7-C064-4495-B0BE-01085850F3A4}" dt="2022-12-02T07:24:56.438" v="179" actId="113"/>
        <pc:sldMkLst>
          <pc:docMk/>
          <pc:sldMk cId="0" sldId="413"/>
        </pc:sldMkLst>
        <pc:spChg chg="mod">
          <ac:chgData name="Sharma Computer Academy" userId="08476b32c11f4418" providerId="LiveId" clId="{579EF4E7-C064-4495-B0BE-01085850F3A4}" dt="2022-12-02T07:24:56.438" v="179" actId="113"/>
          <ac:spMkLst>
            <pc:docMk/>
            <pc:sldMk cId="0" sldId="41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7" name="Shape 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927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1pPr>
    <a:lvl2pPr indent="228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2pPr>
    <a:lvl3pPr indent="457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3pPr>
    <a:lvl4pPr indent="685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4pPr>
    <a:lvl5pPr indent="9144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5pPr>
    <a:lvl6pPr indent="11430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6pPr>
    <a:lvl7pPr indent="13716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7pPr>
    <a:lvl8pPr indent="16002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8pPr>
    <a:lvl9pPr indent="1828800" defTabSz="457200">
      <a:lnSpc>
        <a:spcPct val="117999"/>
      </a:lnSpc>
      <a:defRPr sz="30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dpitch.co.id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4" name="Shape 4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5" name="Shape 5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</p:spTree>
    <p:extLst>
      <p:ext uri="{BB962C8B-B14F-4D97-AF65-F5344CB8AC3E}">
        <p14:creationId xmlns:p14="http://schemas.microsoft.com/office/powerpoint/2010/main" xmlns="" val="133609262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Subtitle copy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8" name="Shape 8"/>
          <p:cNvSpPr/>
          <p:nvPr/>
        </p:nvSpPr>
        <p:spPr>
          <a:xfrm>
            <a:off x="1770155" y="12874662"/>
            <a:ext cx="10298151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l">
              <a:defRPr sz="24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</a:rPr>
              <a:t>Good Keynote for Great Pitch</a:t>
            </a:r>
          </a:p>
        </p:txBody>
      </p:sp>
      <p:sp>
        <p:nvSpPr>
          <p:cNvPr id="9" name="Shape 9"/>
          <p:cNvSpPr/>
          <p:nvPr/>
        </p:nvSpPr>
        <p:spPr>
          <a:xfrm>
            <a:off x="12525505" y="12874662"/>
            <a:ext cx="11313657" cy="5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2400">
                <a:latin typeface="Lato Regular"/>
                <a:ea typeface="Lato Regular"/>
                <a:cs typeface="Lato Regular"/>
                <a:sym typeface="Lato Regular"/>
                <a:hlinkClick r:id="rId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FFFFFF"/>
                </a:solidFill>
                <a:hlinkClick r:id="rId2"/>
              </a:rPr>
              <a:t>www.goodpitch.co.id</a:t>
            </a:r>
          </a:p>
        </p:txBody>
      </p:sp>
      <p:sp>
        <p:nvSpPr>
          <p:cNvPr id="10" name="Shape 10"/>
          <p:cNvSpPr/>
          <p:nvPr/>
        </p:nvSpPr>
        <p:spPr>
          <a:xfrm>
            <a:off x="530176" y="74828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530176" y="950293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12" name="Shape 12"/>
          <p:cNvSpPr/>
          <p:nvPr/>
        </p:nvSpPr>
        <p:spPr>
          <a:xfrm>
            <a:off x="530176" y="1152304"/>
            <a:ext cx="439641" cy="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2641317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4041964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bg>
      <p:bgPr>
        <a:solidFill>
          <a:srgbClr val="404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440592" y="12676593"/>
            <a:ext cx="1469583" cy="78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5600" spc="-112">
                <a:solidFill>
                  <a:srgbClr val="A9C6DB"/>
                </a:solidFill>
                <a:latin typeface="+mj-lt"/>
                <a:ea typeface="+mj-ea"/>
                <a:cs typeface="+mj-cs"/>
                <a:sym typeface="SignPainter-HouseScrip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5600" spc="-112">
                <a:solidFill>
                  <a:srgbClr val="A9C6DB"/>
                </a:solidFill>
              </a:rPr>
              <a:t>Pitch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3980026"/>
            <a:ext cx="4017962" cy="4019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197642" y="14053636"/>
            <a:ext cx="4067175" cy="406558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4597221" y="20008237"/>
            <a:ext cx="6159659" cy="370441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2450" h="4914900">
                <a:moveTo>
                  <a:pt x="2814638" y="0"/>
                </a:moveTo>
                <a:lnTo>
                  <a:pt x="8172450" y="3086100"/>
                </a:lnTo>
                <a:lnTo>
                  <a:pt x="5400675" y="4914900"/>
                </a:lnTo>
                <a:lnTo>
                  <a:pt x="0" y="1828800"/>
                </a:lnTo>
                <a:lnTo>
                  <a:pt x="281463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7222312" y="14740906"/>
            <a:ext cx="2659030" cy="5267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1638651 w 6996463"/>
              <a:gd name="connsiteY0" fmla="*/ 644232 h 5559132"/>
              <a:gd name="connsiteX1" fmla="*/ 6996463 w 6996463"/>
              <a:gd name="connsiteY1" fmla="*/ 3730332 h 5559132"/>
              <a:gd name="connsiteX2" fmla="*/ 4224688 w 6996463"/>
              <a:gd name="connsiteY2" fmla="*/ 5559132 h 5559132"/>
              <a:gd name="connsiteX3" fmla="*/ 0 w 6996463"/>
              <a:gd name="connsiteY3" fmla="*/ 0 h 5559132"/>
              <a:gd name="connsiteX4" fmla="*/ 1638651 w 6996463"/>
              <a:gd name="connsiteY4" fmla="*/ 644232 h 5559132"/>
              <a:gd name="connsiteX0" fmla="*/ 1638651 w 6996463"/>
              <a:gd name="connsiteY0" fmla="*/ 644232 h 6596768"/>
              <a:gd name="connsiteX1" fmla="*/ 6996463 w 6996463"/>
              <a:gd name="connsiteY1" fmla="*/ 3730332 h 6596768"/>
              <a:gd name="connsiteX2" fmla="*/ 1250132 w 6996463"/>
              <a:gd name="connsiteY2" fmla="*/ 6596768 h 6596768"/>
              <a:gd name="connsiteX3" fmla="*/ 0 w 6996463"/>
              <a:gd name="connsiteY3" fmla="*/ 0 h 6596768"/>
              <a:gd name="connsiteX4" fmla="*/ 1638651 w 6996463"/>
              <a:gd name="connsiteY4" fmla="*/ 644232 h 6596768"/>
              <a:gd name="connsiteX0" fmla="*/ 1638651 w 3330150"/>
              <a:gd name="connsiteY0" fmla="*/ 644232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1638651 w 3330150"/>
              <a:gd name="connsiteY4" fmla="*/ 644232 h 6596768"/>
              <a:gd name="connsiteX0" fmla="*/ 2313114 w 3330150"/>
              <a:gd name="connsiteY0" fmla="*/ 246471 h 6596768"/>
              <a:gd name="connsiteX1" fmla="*/ 3330150 w 3330150"/>
              <a:gd name="connsiteY1" fmla="*/ 5511607 h 6596768"/>
              <a:gd name="connsiteX2" fmla="*/ 1250132 w 3330150"/>
              <a:gd name="connsiteY2" fmla="*/ 6596768 h 6596768"/>
              <a:gd name="connsiteX3" fmla="*/ 0 w 3330150"/>
              <a:gd name="connsiteY3" fmla="*/ 0 h 6596768"/>
              <a:gd name="connsiteX4" fmla="*/ 2313114 w 3330150"/>
              <a:gd name="connsiteY4" fmla="*/ 246471 h 659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0150" h="6596768">
                <a:moveTo>
                  <a:pt x="2313114" y="246471"/>
                </a:moveTo>
                <a:lnTo>
                  <a:pt x="3330150" y="5511607"/>
                </a:lnTo>
                <a:lnTo>
                  <a:pt x="1250132" y="6596768"/>
                </a:lnTo>
                <a:lnTo>
                  <a:pt x="0" y="0"/>
                </a:lnTo>
                <a:lnTo>
                  <a:pt x="2313114" y="246471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10699561" y="16585697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775923" y="21240924"/>
            <a:ext cx="7145095" cy="3422540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2318" h="8311855">
                <a:moveTo>
                  <a:pt x="9810748" y="0"/>
                </a:moveTo>
                <a:lnTo>
                  <a:pt x="17352318" y="2883900"/>
                </a:lnTo>
                <a:lnTo>
                  <a:pt x="7543992" y="8311855"/>
                </a:lnTo>
                <a:lnTo>
                  <a:pt x="0" y="4740476"/>
                </a:lnTo>
                <a:lnTo>
                  <a:pt x="9810748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0566874" y="15623835"/>
            <a:ext cx="5043584" cy="4726492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86659" h="20229495">
                <a:moveTo>
                  <a:pt x="21586659" y="0"/>
                </a:moveTo>
                <a:lnTo>
                  <a:pt x="19727356" y="18206579"/>
                </a:lnTo>
                <a:lnTo>
                  <a:pt x="-1" y="20229495"/>
                </a:lnTo>
                <a:lnTo>
                  <a:pt x="2671128" y="5628747"/>
                </a:lnTo>
                <a:lnTo>
                  <a:pt x="21586659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21350323" y="20960819"/>
            <a:ext cx="6195211" cy="580845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9167" h="25013631">
                <a:moveTo>
                  <a:pt x="23282865" y="6807052"/>
                </a:moveTo>
                <a:lnTo>
                  <a:pt x="26679167" y="25013631"/>
                </a:lnTo>
                <a:lnTo>
                  <a:pt x="2288384" y="22447145"/>
                </a:lnTo>
                <a:lnTo>
                  <a:pt x="0" y="0"/>
                </a:lnTo>
                <a:lnTo>
                  <a:pt x="23282865" y="6807052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16331383" y="13716000"/>
            <a:ext cx="10605402" cy="8173331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71292" h="35197774">
                <a:moveTo>
                  <a:pt x="45671292" y="0"/>
                </a:moveTo>
                <a:lnTo>
                  <a:pt x="39879418" y="35007809"/>
                </a:lnTo>
                <a:lnTo>
                  <a:pt x="0" y="35197774"/>
                </a:lnTo>
                <a:lnTo>
                  <a:pt x="6112232" y="5400092"/>
                </a:lnTo>
                <a:lnTo>
                  <a:pt x="45671292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9"/>
          </p:nvPr>
        </p:nvSpPr>
        <p:spPr>
          <a:xfrm>
            <a:off x="8048657" y="17543059"/>
            <a:ext cx="7801242" cy="7241015"/>
          </a:xfrm>
          <a:custGeom>
            <a:avLst/>
            <a:gdLst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8258175 w 8258175"/>
              <a:gd name="connsiteY2" fmla="*/ 4943475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58175"/>
              <a:gd name="connsiteY0" fmla="*/ 0 h 4943475"/>
              <a:gd name="connsiteX1" fmla="*/ 8258175 w 8258175"/>
              <a:gd name="connsiteY1" fmla="*/ 0 h 4943475"/>
              <a:gd name="connsiteX2" fmla="*/ 5429250 w 8258175"/>
              <a:gd name="connsiteY2" fmla="*/ 4914900 h 4943475"/>
              <a:gd name="connsiteX3" fmla="*/ 0 w 8258175"/>
              <a:gd name="connsiteY3" fmla="*/ 4943475 h 4943475"/>
              <a:gd name="connsiteX4" fmla="*/ 0 w 8258175"/>
              <a:gd name="connsiteY4" fmla="*/ 0 h 4943475"/>
              <a:gd name="connsiteX0" fmla="*/ 0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0 w 8201025"/>
              <a:gd name="connsiteY4" fmla="*/ 0 h 4943475"/>
              <a:gd name="connsiteX0" fmla="*/ 2843213 w 8201025"/>
              <a:gd name="connsiteY0" fmla="*/ 0 h 4943475"/>
              <a:gd name="connsiteX1" fmla="*/ 8201025 w 8201025"/>
              <a:gd name="connsiteY1" fmla="*/ 3086100 h 4943475"/>
              <a:gd name="connsiteX2" fmla="*/ 5429250 w 8201025"/>
              <a:gd name="connsiteY2" fmla="*/ 4914900 h 4943475"/>
              <a:gd name="connsiteX3" fmla="*/ 0 w 8201025"/>
              <a:gd name="connsiteY3" fmla="*/ 4943475 h 4943475"/>
              <a:gd name="connsiteX4" fmla="*/ 2843213 w 8201025"/>
              <a:gd name="connsiteY4" fmla="*/ 0 h 4943475"/>
              <a:gd name="connsiteX0" fmla="*/ 2814638 w 8172450"/>
              <a:gd name="connsiteY0" fmla="*/ 0 h 4914900"/>
              <a:gd name="connsiteX1" fmla="*/ 8172450 w 8172450"/>
              <a:gd name="connsiteY1" fmla="*/ 3086100 h 4914900"/>
              <a:gd name="connsiteX2" fmla="*/ 5400675 w 8172450"/>
              <a:gd name="connsiteY2" fmla="*/ 4914900 h 4914900"/>
              <a:gd name="connsiteX3" fmla="*/ 0 w 8172450"/>
              <a:gd name="connsiteY3" fmla="*/ 1828800 h 4914900"/>
              <a:gd name="connsiteX4" fmla="*/ 2814638 w 8172450"/>
              <a:gd name="connsiteY4" fmla="*/ 0 h 4914900"/>
              <a:gd name="connsiteX0" fmla="*/ 2814638 w 8172450"/>
              <a:gd name="connsiteY0" fmla="*/ 0 h 5400179"/>
              <a:gd name="connsiteX1" fmla="*/ 8172450 w 8172450"/>
              <a:gd name="connsiteY1" fmla="*/ 3086100 h 5400179"/>
              <a:gd name="connsiteX2" fmla="*/ 7543992 w 8172450"/>
              <a:gd name="connsiteY2" fmla="*/ 5400179 h 5400179"/>
              <a:gd name="connsiteX3" fmla="*/ 0 w 8172450"/>
              <a:gd name="connsiteY3" fmla="*/ 1828800 h 5400179"/>
              <a:gd name="connsiteX4" fmla="*/ 2814638 w 8172450"/>
              <a:gd name="connsiteY4" fmla="*/ 0 h 5400179"/>
              <a:gd name="connsiteX0" fmla="*/ 2814638 w 17352318"/>
              <a:gd name="connsiteY0" fmla="*/ 27776 h 5427955"/>
              <a:gd name="connsiteX1" fmla="*/ 17352318 w 17352318"/>
              <a:gd name="connsiteY1" fmla="*/ 0 h 5427955"/>
              <a:gd name="connsiteX2" fmla="*/ 7543992 w 17352318"/>
              <a:gd name="connsiteY2" fmla="*/ 5427955 h 5427955"/>
              <a:gd name="connsiteX3" fmla="*/ 0 w 17352318"/>
              <a:gd name="connsiteY3" fmla="*/ 1856576 h 5427955"/>
              <a:gd name="connsiteX4" fmla="*/ 2814638 w 17352318"/>
              <a:gd name="connsiteY4" fmla="*/ 27776 h 5427955"/>
              <a:gd name="connsiteX0" fmla="*/ 9810748 w 17352318"/>
              <a:gd name="connsiteY0" fmla="*/ 0 h 8311855"/>
              <a:gd name="connsiteX1" fmla="*/ 17352318 w 17352318"/>
              <a:gd name="connsiteY1" fmla="*/ 2883900 h 8311855"/>
              <a:gd name="connsiteX2" fmla="*/ 7543992 w 17352318"/>
              <a:gd name="connsiteY2" fmla="*/ 8311855 h 8311855"/>
              <a:gd name="connsiteX3" fmla="*/ 0 w 17352318"/>
              <a:gd name="connsiteY3" fmla="*/ 4740476 h 8311855"/>
              <a:gd name="connsiteX4" fmla="*/ 9810748 w 17352318"/>
              <a:gd name="connsiteY4" fmla="*/ 0 h 8311855"/>
              <a:gd name="connsiteX0" fmla="*/ 9810748 w 27049281"/>
              <a:gd name="connsiteY0" fmla="*/ 0 h 8311855"/>
              <a:gd name="connsiteX1" fmla="*/ 27049281 w 27049281"/>
              <a:gd name="connsiteY1" fmla="*/ 6362962 h 8311855"/>
              <a:gd name="connsiteX2" fmla="*/ 7543992 w 27049281"/>
              <a:gd name="connsiteY2" fmla="*/ 8311855 h 8311855"/>
              <a:gd name="connsiteX3" fmla="*/ 0 w 27049281"/>
              <a:gd name="connsiteY3" fmla="*/ 4740476 h 8311855"/>
              <a:gd name="connsiteX4" fmla="*/ 9810748 w 27049281"/>
              <a:gd name="connsiteY4" fmla="*/ 0 h 8311855"/>
              <a:gd name="connsiteX0" fmla="*/ 29130652 w 29130652"/>
              <a:gd name="connsiteY0" fmla="*/ 0 h 20229495"/>
              <a:gd name="connsiteX1" fmla="*/ 27049281 w 29130652"/>
              <a:gd name="connsiteY1" fmla="*/ 18280602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9130652 w 29130652"/>
              <a:gd name="connsiteY0" fmla="*/ 0 h 20229495"/>
              <a:gd name="connsiteX1" fmla="*/ 27271349 w 29130652"/>
              <a:gd name="connsiteY1" fmla="*/ 18206579 h 20229495"/>
              <a:gd name="connsiteX2" fmla="*/ 7543992 w 29130652"/>
              <a:gd name="connsiteY2" fmla="*/ 20229495 h 20229495"/>
              <a:gd name="connsiteX3" fmla="*/ 0 w 29130652"/>
              <a:gd name="connsiteY3" fmla="*/ 16658116 h 20229495"/>
              <a:gd name="connsiteX4" fmla="*/ 29130652 w 29130652"/>
              <a:gd name="connsiteY4" fmla="*/ 0 h 20229495"/>
              <a:gd name="connsiteX0" fmla="*/ 21586659 w 21586659"/>
              <a:gd name="connsiteY0" fmla="*/ 0 h 20229495"/>
              <a:gd name="connsiteX1" fmla="*/ 19727356 w 21586659"/>
              <a:gd name="connsiteY1" fmla="*/ 18206579 h 20229495"/>
              <a:gd name="connsiteX2" fmla="*/ -1 w 21586659"/>
              <a:gd name="connsiteY2" fmla="*/ 20229495 h 20229495"/>
              <a:gd name="connsiteX3" fmla="*/ 2671128 w 21586659"/>
              <a:gd name="connsiteY3" fmla="*/ 5628747 h 20229495"/>
              <a:gd name="connsiteX4" fmla="*/ 21586659 w 21586659"/>
              <a:gd name="connsiteY4" fmla="*/ 0 h 20229495"/>
              <a:gd name="connsiteX0" fmla="*/ 21586659 w 24316758"/>
              <a:gd name="connsiteY0" fmla="*/ 0 h 22944026"/>
              <a:gd name="connsiteX1" fmla="*/ 24316758 w 24316758"/>
              <a:gd name="connsiteY1" fmla="*/ 22944026 h 22944026"/>
              <a:gd name="connsiteX2" fmla="*/ -1 w 24316758"/>
              <a:gd name="connsiteY2" fmla="*/ 20229495 h 22944026"/>
              <a:gd name="connsiteX3" fmla="*/ 2671128 w 24316758"/>
              <a:gd name="connsiteY3" fmla="*/ 5628747 h 22944026"/>
              <a:gd name="connsiteX4" fmla="*/ 21586659 w 24316758"/>
              <a:gd name="connsiteY4" fmla="*/ 0 h 22944026"/>
              <a:gd name="connsiteX0" fmla="*/ 25725611 w 28455710"/>
              <a:gd name="connsiteY0" fmla="*/ 3550057 h 26494083"/>
              <a:gd name="connsiteX1" fmla="*/ 28455710 w 28455710"/>
              <a:gd name="connsiteY1" fmla="*/ 26494083 h 26494083"/>
              <a:gd name="connsiteX2" fmla="*/ 4138951 w 28455710"/>
              <a:gd name="connsiteY2" fmla="*/ 23779552 h 26494083"/>
              <a:gd name="connsiteX3" fmla="*/ 0 w 28455710"/>
              <a:gd name="connsiteY3" fmla="*/ 0 h 26494083"/>
              <a:gd name="connsiteX4" fmla="*/ 25725611 w 28455710"/>
              <a:gd name="connsiteY4" fmla="*/ 3550057 h 26494083"/>
              <a:gd name="connsiteX0" fmla="*/ 24911362 w 27641461"/>
              <a:gd name="connsiteY0" fmla="*/ 2735808 h 25679834"/>
              <a:gd name="connsiteX1" fmla="*/ 27641461 w 27641461"/>
              <a:gd name="connsiteY1" fmla="*/ 25679834 h 25679834"/>
              <a:gd name="connsiteX2" fmla="*/ 3324702 w 27641461"/>
              <a:gd name="connsiteY2" fmla="*/ 22965303 h 25679834"/>
              <a:gd name="connsiteX3" fmla="*/ 0 w 27641461"/>
              <a:gd name="connsiteY3" fmla="*/ 0 h 25679834"/>
              <a:gd name="connsiteX4" fmla="*/ 24911362 w 27641461"/>
              <a:gd name="connsiteY4" fmla="*/ 2735808 h 25679834"/>
              <a:gd name="connsiteX0" fmla="*/ 23949068 w 26679167"/>
              <a:gd name="connsiteY0" fmla="*/ 2069605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949068 w 26679167"/>
              <a:gd name="connsiteY4" fmla="*/ 2069605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8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362407 w 26679167"/>
              <a:gd name="connsiteY2" fmla="*/ 22299100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3282865 w 26679167"/>
              <a:gd name="connsiteY0" fmla="*/ 6807052 h 25013631"/>
              <a:gd name="connsiteX1" fmla="*/ 26679167 w 26679167"/>
              <a:gd name="connsiteY1" fmla="*/ 25013631 h 25013631"/>
              <a:gd name="connsiteX2" fmla="*/ 2288384 w 26679167"/>
              <a:gd name="connsiteY2" fmla="*/ 22447145 h 25013631"/>
              <a:gd name="connsiteX3" fmla="*/ 0 w 26679167"/>
              <a:gd name="connsiteY3" fmla="*/ 0 h 25013631"/>
              <a:gd name="connsiteX4" fmla="*/ 23282865 w 26679167"/>
              <a:gd name="connsiteY4" fmla="*/ 6807052 h 25013631"/>
              <a:gd name="connsiteX0" fmla="*/ 29001318 w 32397620"/>
              <a:gd name="connsiteY0" fmla="*/ 6807052 h 25013631"/>
              <a:gd name="connsiteX1" fmla="*/ 32397620 w 32397620"/>
              <a:gd name="connsiteY1" fmla="*/ 25013631 h 25013631"/>
              <a:gd name="connsiteX2" fmla="*/ 0 w 32397620"/>
              <a:gd name="connsiteY2" fmla="*/ 21922106 h 25013631"/>
              <a:gd name="connsiteX3" fmla="*/ 5718453 w 32397620"/>
              <a:gd name="connsiteY3" fmla="*/ 0 h 25013631"/>
              <a:gd name="connsiteX4" fmla="*/ 29001318 w 32397620"/>
              <a:gd name="connsiteY4" fmla="*/ 6807052 h 25013631"/>
              <a:gd name="connsiteX0" fmla="*/ 29001318 w 39616899"/>
              <a:gd name="connsiteY0" fmla="*/ 6807052 h 21922106"/>
              <a:gd name="connsiteX1" fmla="*/ 39616899 w 39616899"/>
              <a:gd name="connsiteY1" fmla="*/ 21600881 h 21922106"/>
              <a:gd name="connsiteX2" fmla="*/ 0 w 39616899"/>
              <a:gd name="connsiteY2" fmla="*/ 21922106 h 21922106"/>
              <a:gd name="connsiteX3" fmla="*/ 5718453 w 39616899"/>
              <a:gd name="connsiteY3" fmla="*/ 0 h 21922106"/>
              <a:gd name="connsiteX4" fmla="*/ 29001318 w 39616899"/>
              <a:gd name="connsiteY4" fmla="*/ 6807052 h 21922106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5718453 w 45671292"/>
              <a:gd name="connsiteY3" fmla="*/ 13275668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616899 w 45671292"/>
              <a:gd name="connsiteY1" fmla="*/ 3487654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45671292 w 45671292"/>
              <a:gd name="connsiteY0" fmla="*/ 0 h 35197774"/>
              <a:gd name="connsiteX1" fmla="*/ 39879418 w 45671292"/>
              <a:gd name="connsiteY1" fmla="*/ 35007809 h 35197774"/>
              <a:gd name="connsiteX2" fmla="*/ 0 w 45671292"/>
              <a:gd name="connsiteY2" fmla="*/ 35197774 h 35197774"/>
              <a:gd name="connsiteX3" fmla="*/ 6112232 w 45671292"/>
              <a:gd name="connsiteY3" fmla="*/ 5400092 h 35197774"/>
              <a:gd name="connsiteX4" fmla="*/ 45671292 w 45671292"/>
              <a:gd name="connsiteY4" fmla="*/ 0 h 35197774"/>
              <a:gd name="connsiteX0" fmla="*/ 55121984 w 55121984"/>
              <a:gd name="connsiteY0" fmla="*/ 0 h 50686411"/>
              <a:gd name="connsiteX1" fmla="*/ 49330110 w 55121984"/>
              <a:gd name="connsiteY1" fmla="*/ 35007809 h 50686411"/>
              <a:gd name="connsiteX2" fmla="*/ 0 w 55121984"/>
              <a:gd name="connsiteY2" fmla="*/ 50686411 h 50686411"/>
              <a:gd name="connsiteX3" fmla="*/ 15562924 w 55121984"/>
              <a:gd name="connsiteY3" fmla="*/ 5400092 h 50686411"/>
              <a:gd name="connsiteX4" fmla="*/ 55121984 w 55121984"/>
              <a:gd name="connsiteY4" fmla="*/ 0 h 50686411"/>
              <a:gd name="connsiteX0" fmla="*/ 55121984 w 55121984"/>
              <a:gd name="connsiteY0" fmla="*/ 0 h 51284000"/>
              <a:gd name="connsiteX1" fmla="*/ 33578957 w 55121984"/>
              <a:gd name="connsiteY1" fmla="*/ 51284000 h 51284000"/>
              <a:gd name="connsiteX2" fmla="*/ 0 w 55121984"/>
              <a:gd name="connsiteY2" fmla="*/ 50686411 h 51284000"/>
              <a:gd name="connsiteX3" fmla="*/ 15562924 w 55121984"/>
              <a:gd name="connsiteY3" fmla="*/ 5400092 h 51284000"/>
              <a:gd name="connsiteX4" fmla="*/ 55121984 w 55121984"/>
              <a:gd name="connsiteY4" fmla="*/ 0 h 51284000"/>
              <a:gd name="connsiteX0" fmla="*/ 33595407 w 33595407"/>
              <a:gd name="connsiteY0" fmla="*/ 19801751 h 45883908"/>
              <a:gd name="connsiteX1" fmla="*/ 33578957 w 33595407"/>
              <a:gd name="connsiteY1" fmla="*/ 45883908 h 45883908"/>
              <a:gd name="connsiteX2" fmla="*/ 0 w 33595407"/>
              <a:gd name="connsiteY2" fmla="*/ 45286319 h 45883908"/>
              <a:gd name="connsiteX3" fmla="*/ 15562924 w 33595407"/>
              <a:gd name="connsiteY3" fmla="*/ 0 h 45883908"/>
              <a:gd name="connsiteX4" fmla="*/ 33595407 w 33595407"/>
              <a:gd name="connsiteY4" fmla="*/ 19801751 h 45883908"/>
              <a:gd name="connsiteX0" fmla="*/ 33595407 w 33595407"/>
              <a:gd name="connsiteY0" fmla="*/ 5100676 h 31182833"/>
              <a:gd name="connsiteX1" fmla="*/ 33578957 w 33595407"/>
              <a:gd name="connsiteY1" fmla="*/ 31182833 h 31182833"/>
              <a:gd name="connsiteX2" fmla="*/ 0 w 33595407"/>
              <a:gd name="connsiteY2" fmla="*/ 30585244 h 31182833"/>
              <a:gd name="connsiteX3" fmla="*/ 74290 w 33595407"/>
              <a:gd name="connsiteY3" fmla="*/ 0 h 31182833"/>
              <a:gd name="connsiteX4" fmla="*/ 33595407 w 33595407"/>
              <a:gd name="connsiteY4" fmla="*/ 5100676 h 3118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95407" h="31182833">
                <a:moveTo>
                  <a:pt x="33595407" y="5100676"/>
                </a:moveTo>
                <a:cubicBezTo>
                  <a:pt x="33589924" y="13794728"/>
                  <a:pt x="33584440" y="22488781"/>
                  <a:pt x="33578957" y="31182833"/>
                </a:cubicBezTo>
                <a:lnTo>
                  <a:pt x="0" y="30585244"/>
                </a:lnTo>
                <a:lnTo>
                  <a:pt x="74290" y="0"/>
                </a:lnTo>
                <a:lnTo>
                  <a:pt x="33595407" y="5100676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524566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  <p:sldLayoutId id="2147483655" r:id="rId5"/>
    <p:sldLayoutId id="2147483656" r:id="rId6"/>
  </p:sldLayoutIdLst>
  <p:transition spd="med"/>
  <p:txStyles>
    <p:titleStyle>
      <a:lvl1pPr algn="ctr" defTabSz="584200">
        <a:defRPr sz="11200">
          <a:latin typeface="Helvetica Light"/>
          <a:ea typeface="Helvetica Light"/>
          <a:cs typeface="Helvetica Light"/>
          <a:sym typeface="Helvetica Light"/>
        </a:defRPr>
      </a:lvl1pPr>
      <a:lvl2pPr indent="228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2pPr>
      <a:lvl3pPr indent="457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3pPr>
      <a:lvl4pPr indent="685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4pPr>
      <a:lvl5pPr indent="9144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5pPr>
      <a:lvl6pPr indent="11430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6pPr>
      <a:lvl7pPr indent="13716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7pPr>
      <a:lvl8pPr indent="16002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8pPr>
      <a:lvl9pPr indent="1828800" algn="ctr" defTabSz="584200">
        <a:defRPr sz="11200"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17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1pPr>
      <a:lvl2pPr marL="1061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2pPr>
      <a:lvl3pPr marL="1506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3pPr>
      <a:lvl4pPr marL="1950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4pPr>
      <a:lvl5pPr marL="2395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5pPr>
      <a:lvl6pPr marL="2839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6pPr>
      <a:lvl7pPr marL="3284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7pPr>
      <a:lvl8pPr marL="37288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8pPr>
      <a:lvl9pPr marL="4173361" indent="-617361" defTabSz="584200">
        <a:spcBef>
          <a:spcPts val="4200"/>
        </a:spcBef>
        <a:buSzPct val="75000"/>
        <a:buChar char="•"/>
        <a:defRPr sz="5000"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584200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tch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2850" y="4864975"/>
            <a:ext cx="9258300" cy="2818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1070514" y="5374072"/>
            <a:ext cx="22458556" cy="1538883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0" spc="-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10000" spc="-200" dirty="0">
                <a:solidFill>
                  <a:schemeClr val="bg1"/>
                </a:solidFill>
              </a:rPr>
              <a:t>OPERATORS IN JAVASCRIPT</a:t>
            </a:r>
            <a:endParaRPr sz="10000" spc="-200">
              <a:solidFill>
                <a:schemeClr val="bg1"/>
              </a:solidFill>
            </a:endParaRPr>
          </a:p>
        </p:txBody>
      </p:sp>
      <p:pic>
        <p:nvPicPr>
          <p:cNvPr id="3" name="Picture 2" descr="C:\Users\Comp08\Desktop\JavaScript-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48250" y="10861288"/>
            <a:ext cx="2628139" cy="262813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/>
          <p:nvPr/>
        </p:nvSpPr>
        <p:spPr>
          <a:xfrm>
            <a:off x="7263005" y="6131934"/>
            <a:ext cx="4661294" cy="4818553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78" name="Shape 678"/>
          <p:cNvSpPr/>
          <p:nvPr/>
        </p:nvSpPr>
        <p:spPr>
          <a:xfrm>
            <a:off x="12424935" y="6020424"/>
            <a:ext cx="4661294" cy="4818553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79" name="Shape 679"/>
          <p:cNvSpPr/>
          <p:nvPr/>
        </p:nvSpPr>
        <p:spPr>
          <a:xfrm>
            <a:off x="17621631" y="6020424"/>
            <a:ext cx="4661293" cy="4818553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80" name="Shape 680"/>
          <p:cNvSpPr/>
          <p:nvPr/>
        </p:nvSpPr>
        <p:spPr>
          <a:xfrm>
            <a:off x="1919687" y="6154236"/>
            <a:ext cx="4842681" cy="4818553"/>
          </a:xfrm>
          <a:prstGeom prst="roundRect">
            <a:avLst>
              <a:gd name="adj" fmla="val 4914"/>
            </a:avLst>
          </a:prstGeom>
          <a:ln w="38100">
            <a:solidFill>
              <a:srgbClr val="FFDB2C"/>
            </a:solidFill>
            <a:miter lim="400000"/>
          </a:ln>
        </p:spPr>
        <p:txBody>
          <a:bodyPr lIns="71437" tIns="71437" rIns="71437" bIns="71437" anchor="ctr"/>
          <a:lstStyle/>
          <a:p>
            <a:pPr lvl="0"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681" name="Shape 681"/>
          <p:cNvSpPr/>
          <p:nvPr/>
        </p:nvSpPr>
        <p:spPr>
          <a:xfrm>
            <a:off x="1406145" y="2053361"/>
            <a:ext cx="22337517" cy="1006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marL="0" lvl="0" indent="0" algn="ctr">
              <a:buNone/>
            </a:pPr>
            <a:r>
              <a:rPr lang="en-IN" dirty="0">
                <a:solidFill>
                  <a:schemeClr val="tx1"/>
                </a:solidFill>
              </a:rPr>
              <a:t>JavaScript language supports following type of operators.</a:t>
            </a:r>
          </a:p>
        </p:txBody>
      </p:sp>
      <p:sp>
        <p:nvSpPr>
          <p:cNvPr id="682" name="Shape 682"/>
          <p:cNvSpPr/>
          <p:nvPr/>
        </p:nvSpPr>
        <p:spPr>
          <a:xfrm>
            <a:off x="2539739" y="4436797"/>
            <a:ext cx="3783966" cy="123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83" name="Shape 683"/>
          <p:cNvSpPr/>
          <p:nvPr/>
        </p:nvSpPr>
        <p:spPr>
          <a:xfrm>
            <a:off x="7701669" y="4436797"/>
            <a:ext cx="3783966" cy="123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84" name="Shape 684"/>
          <p:cNvSpPr/>
          <p:nvPr/>
        </p:nvSpPr>
        <p:spPr>
          <a:xfrm>
            <a:off x="12863599" y="4436797"/>
            <a:ext cx="3783966" cy="123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85" name="Shape 685"/>
          <p:cNvSpPr/>
          <p:nvPr/>
        </p:nvSpPr>
        <p:spPr>
          <a:xfrm>
            <a:off x="18060294" y="4436797"/>
            <a:ext cx="3783966" cy="1235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200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72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95" name="Shape 695"/>
          <p:cNvSpPr/>
          <p:nvPr/>
        </p:nvSpPr>
        <p:spPr>
          <a:xfrm>
            <a:off x="2501112" y="6683855"/>
            <a:ext cx="3822593" cy="5652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defTabSz="457200">
              <a:lnSpc>
                <a:spcPct val="2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600" spc="5376" baseline="-2083">
                <a:latin typeface="linea-basic-elaboration-10"/>
                <a:ea typeface="linea-basic-elaboration-10"/>
                <a:cs typeface="linea-basic-elaboration-10"/>
                <a:sym typeface="linea-basic-elaboration-10"/>
              </a:defRPr>
            </a:lvl1pPr>
          </a:lstStyle>
          <a:p>
            <a:pPr>
              <a:defRPr sz="1800" spc="0" baseline="0">
                <a:solidFill>
                  <a:srgbClr val="000000"/>
                </a:solidFill>
              </a:defRPr>
            </a:pPr>
            <a:r>
              <a:rPr lang="en-IN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</a:t>
            </a:r>
          </a:p>
          <a:p>
            <a:pPr>
              <a:defRPr sz="1800" spc="0" baseline="0">
                <a:solidFill>
                  <a:srgbClr val="000000"/>
                </a:solidFill>
              </a:defRPr>
            </a:pPr>
            <a:r>
              <a:rPr lang="en-IN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  <a:p>
            <a:pPr lvl="0">
              <a:defRPr sz="1800" spc="0" baseline="0">
                <a:solidFill>
                  <a:srgbClr val="000000"/>
                </a:solidFill>
              </a:defRPr>
            </a:pPr>
            <a:endParaRPr sz="12600" spc="5376" baseline="-2083" dirty="0">
              <a:solidFill>
                <a:srgbClr val="FFFFFF"/>
              </a:solidFill>
            </a:endParaRPr>
          </a:p>
        </p:txBody>
      </p:sp>
      <p:sp>
        <p:nvSpPr>
          <p:cNvPr id="23" name="Shape 83"/>
          <p:cNvSpPr/>
          <p:nvPr/>
        </p:nvSpPr>
        <p:spPr>
          <a:xfrm>
            <a:off x="1527349" y="602191"/>
            <a:ext cx="20082892" cy="812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80000"/>
              </a:lnSpc>
              <a:defRPr sz="2700" spc="891"/>
            </a:lvl1pPr>
          </a:lstStyle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sz="6600" spc="891">
              <a:solidFill>
                <a:schemeClr val="tx1"/>
              </a:solidFill>
            </a:endParaRPr>
          </a:p>
        </p:txBody>
      </p:sp>
      <p:sp>
        <p:nvSpPr>
          <p:cNvPr id="24" name="Shape 695"/>
          <p:cNvSpPr/>
          <p:nvPr/>
        </p:nvSpPr>
        <p:spPr>
          <a:xfrm>
            <a:off x="7113912" y="6657839"/>
            <a:ext cx="4842681" cy="5652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defTabSz="457200">
              <a:lnSpc>
                <a:spcPct val="2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600" spc="5376" baseline="-2083">
                <a:latin typeface="linea-basic-elaboration-10"/>
                <a:ea typeface="linea-basic-elaboration-10"/>
                <a:cs typeface="linea-basic-elaboration-10"/>
                <a:sym typeface="linea-basic-elaboration-10"/>
              </a:defRPr>
            </a:lvl1pPr>
          </a:lstStyle>
          <a:p>
            <a:pPr>
              <a:defRPr sz="1800" spc="0" baseline="0">
                <a:solidFill>
                  <a:srgbClr val="000000"/>
                </a:solidFill>
              </a:defRPr>
            </a:pP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IN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omparision Operators</a:t>
            </a:r>
          </a:p>
          <a:p>
            <a:pPr lvl="0">
              <a:defRPr sz="1800" spc="0" baseline="0">
                <a:solidFill>
                  <a:srgbClr val="000000"/>
                </a:solidFill>
              </a:defRPr>
            </a:pPr>
            <a:endParaRPr sz="12600" spc="5376" baseline="-2083">
              <a:solidFill>
                <a:srgbClr val="FFFFFF"/>
              </a:solidFill>
            </a:endParaRPr>
          </a:p>
        </p:txBody>
      </p:sp>
      <p:sp>
        <p:nvSpPr>
          <p:cNvPr id="25" name="Shape 695"/>
          <p:cNvSpPr/>
          <p:nvPr/>
        </p:nvSpPr>
        <p:spPr>
          <a:xfrm>
            <a:off x="12730302" y="6654125"/>
            <a:ext cx="3822593" cy="5652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defTabSz="457200">
              <a:lnSpc>
                <a:spcPct val="2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600" spc="5376" baseline="-2083">
                <a:latin typeface="linea-basic-elaboration-10"/>
                <a:ea typeface="linea-basic-elaboration-10"/>
                <a:cs typeface="linea-basic-elaboration-10"/>
                <a:sym typeface="linea-basic-elaboration-10"/>
              </a:defRPr>
            </a:lvl1pPr>
          </a:lstStyle>
          <a:p>
            <a:pPr>
              <a:defRPr sz="1800" spc="0" baseline="0">
                <a:solidFill>
                  <a:srgbClr val="000000"/>
                </a:solidFill>
              </a:defRPr>
            </a:pP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IN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ogical Operators</a:t>
            </a:r>
          </a:p>
          <a:p>
            <a:pPr lvl="0">
              <a:defRPr sz="1800" spc="0" baseline="0">
                <a:solidFill>
                  <a:srgbClr val="000000"/>
                </a:solidFill>
              </a:defRPr>
            </a:pPr>
            <a:endParaRPr sz="12600" spc="5376" baseline="-2083">
              <a:solidFill>
                <a:srgbClr val="FFFFFF"/>
              </a:solidFill>
            </a:endParaRPr>
          </a:p>
        </p:txBody>
      </p:sp>
      <p:sp>
        <p:nvSpPr>
          <p:cNvPr id="26" name="Shape 695"/>
          <p:cNvSpPr/>
          <p:nvPr/>
        </p:nvSpPr>
        <p:spPr>
          <a:xfrm>
            <a:off x="17454612" y="6494297"/>
            <a:ext cx="4892440" cy="5652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defTabSz="457200">
              <a:lnSpc>
                <a:spcPct val="2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9600" spc="5376" baseline="-2083">
                <a:latin typeface="linea-basic-elaboration-10"/>
                <a:ea typeface="linea-basic-elaboration-10"/>
                <a:cs typeface="linea-basic-elaboration-10"/>
                <a:sym typeface="linea-basic-elaboration-10"/>
              </a:defRPr>
            </a:lvl1pPr>
          </a:lstStyle>
          <a:p>
            <a:pPr>
              <a:defRPr sz="1800" spc="0" baseline="0">
                <a:solidFill>
                  <a:srgbClr val="000000"/>
                </a:solidFill>
              </a:defRPr>
            </a:pPr>
            <a:r>
              <a:rPr lang="en-US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IN" sz="5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ssignment Operators</a:t>
            </a:r>
          </a:p>
          <a:p>
            <a:pPr lvl="0">
              <a:defRPr sz="1800" spc="0" baseline="0">
                <a:solidFill>
                  <a:srgbClr val="000000"/>
                </a:solidFill>
              </a:defRPr>
            </a:pPr>
            <a:endParaRPr sz="12600" spc="5376" baseline="-2083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" grpId="0" animBg="1"/>
      <p:bldP spid="678" grpId="0" animBg="1"/>
      <p:bldP spid="679" grpId="0" animBg="1"/>
      <p:bldP spid="680" grpId="0" animBg="1"/>
      <p:bldP spid="682" grpId="0" animBg="1"/>
      <p:bldP spid="683" grpId="0" animBg="1"/>
      <p:bldP spid="684" grpId="0" animBg="1"/>
      <p:bldP spid="685" grpId="0" animBg="1"/>
      <p:bldP spid="695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40"/>
          <p:cNvSpPr/>
          <p:nvPr/>
        </p:nvSpPr>
        <p:spPr>
          <a:xfrm>
            <a:off x="2003014" y="969860"/>
            <a:ext cx="18481913" cy="1015663"/>
          </a:xfrm>
          <a:prstGeom prst="rect">
            <a:avLst/>
          </a:prstGeom>
          <a:ln w="12700">
            <a:miter lim="400000"/>
          </a:ln>
          <a:effectLst>
            <a:outerShdw blurRad="12700" dist="15247" dir="5400000" rotWithShape="0">
              <a:srgbClr val="000000">
                <a:alpha val="2268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r">
              <a:defRPr sz="7600" spc="-15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Operators</a:t>
            </a:r>
            <a:endParaRPr sz="6600" spc="-152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82751" y="2676305"/>
            <a:ext cx="21365737" cy="162159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lvl="0" rtl="0" latinLnBrk="1" hangingPunct="0"/>
            <a:r>
              <a:rPr lang="en-US" sz="6000" dirty="0">
                <a:solidFill>
                  <a:schemeClr val="bg1"/>
                </a:solidFill>
                <a:cs typeface="Arial" pitchFamily="34" charset="0"/>
              </a:rPr>
              <a:t>Assume variable </a:t>
            </a:r>
            <a:r>
              <a:rPr lang="en-US" sz="6000" b="1" dirty="0">
                <a:solidFill>
                  <a:srgbClr val="FFFF00"/>
                </a:solidFill>
                <a:cs typeface="Arial" pitchFamily="34" charset="0"/>
              </a:rPr>
              <a:t>A</a:t>
            </a:r>
            <a:r>
              <a:rPr lang="en-US" sz="60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6000" dirty="0">
                <a:solidFill>
                  <a:schemeClr val="bg1"/>
                </a:solidFill>
                <a:cs typeface="Arial" pitchFamily="34" charset="0"/>
              </a:rPr>
              <a:t>holds </a:t>
            </a:r>
            <a:r>
              <a:rPr lang="en-US" sz="6000" b="1" dirty="0">
                <a:solidFill>
                  <a:srgbClr val="FFFF00"/>
                </a:solidFill>
                <a:cs typeface="Arial" pitchFamily="34" charset="0"/>
              </a:rPr>
              <a:t>10</a:t>
            </a:r>
            <a:r>
              <a:rPr lang="en-US" sz="60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sz="6000" dirty="0">
                <a:solidFill>
                  <a:schemeClr val="bg1"/>
                </a:solidFill>
                <a:cs typeface="Arial" pitchFamily="34" charset="0"/>
              </a:rPr>
              <a:t>and variable </a:t>
            </a:r>
            <a:r>
              <a:rPr lang="en-US" sz="6000" b="1" dirty="0">
                <a:solidFill>
                  <a:srgbClr val="FFFF00"/>
                </a:solidFill>
                <a:cs typeface="Arial" pitchFamily="34" charset="0"/>
              </a:rPr>
              <a:t>B</a:t>
            </a:r>
            <a:r>
              <a:rPr lang="en-US" sz="6000" dirty="0">
                <a:solidFill>
                  <a:schemeClr val="bg1"/>
                </a:solidFill>
                <a:cs typeface="Arial" pitchFamily="34" charset="0"/>
              </a:rPr>
              <a:t> holds </a:t>
            </a:r>
            <a:r>
              <a:rPr lang="en-US" sz="6000" b="1" dirty="0">
                <a:solidFill>
                  <a:srgbClr val="FFFF00"/>
                </a:solidFill>
                <a:cs typeface="Arial" pitchFamily="34" charset="0"/>
              </a:rPr>
              <a:t>20</a:t>
            </a:r>
            <a:r>
              <a:rPr lang="en-US" sz="6000" dirty="0">
                <a:solidFill>
                  <a:schemeClr val="bg1"/>
                </a:solidFill>
                <a:cs typeface="Arial" pitchFamily="34" charset="0"/>
              </a:rPr>
              <a:t> then</a:t>
            </a:r>
            <a:r>
              <a:rPr lang="en-US" sz="800" dirty="0">
                <a:solidFill>
                  <a:schemeClr val="bg1"/>
                </a:solidFill>
                <a:cs typeface="Arial" pitchFamily="34" charset="0"/>
              </a:rPr>
              <a:t>: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6711" y="4338792"/>
            <a:ext cx="298503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198" y="4297902"/>
            <a:ext cx="12077064" cy="1498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Description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347699" y="4338792"/>
            <a:ext cx="6983336" cy="1498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Example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2098" y="5547353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eaLnBrk="1" fontAlgn="t" latinLnBrk="0" hangingPunct="1"/>
            <a:r>
              <a:rPr lang="en-IN" sz="6000" dirty="0">
                <a:solidFill>
                  <a:srgbClr val="FFFF00"/>
                </a:solidFill>
              </a:rPr>
              <a:t>+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/>
              <a:t>                   Adds two operands                                                                               		   A + B will give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384" y="6502625"/>
            <a:ext cx="22438937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600" dirty="0">
                <a:solidFill>
                  <a:srgbClr val="FFFF00"/>
                </a:solidFill>
              </a:rPr>
              <a:t>- </a:t>
            </a:r>
            <a:r>
              <a:rPr lang="en-IN" dirty="0">
                <a:solidFill>
                  <a:srgbClr val="FFFF00"/>
                </a:solidFill>
              </a:rPr>
              <a:t>   </a:t>
            </a:r>
            <a:r>
              <a:rPr lang="en-IN" dirty="0"/>
              <a:t>                </a:t>
            </a:r>
            <a:r>
              <a:rPr lang="en-IN" dirty="0">
                <a:latin typeface="verdana"/>
              </a:rPr>
              <a:t>Subtracts second operand from the first                               </a:t>
            </a:r>
            <a:r>
              <a:rPr lang="en-IN" dirty="0"/>
              <a:t>A - B will give 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70" y="7457897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*</a:t>
            </a:r>
            <a:r>
              <a:rPr lang="en-IN" dirty="0">
                <a:solidFill>
                  <a:srgbClr val="FFFF00"/>
                </a:solidFill>
              </a:rPr>
              <a:t>   </a:t>
            </a:r>
            <a:r>
              <a:rPr lang="en-IN" dirty="0"/>
              <a:t>                  </a:t>
            </a:r>
            <a:r>
              <a:rPr lang="en-IN" dirty="0">
                <a:latin typeface="verdana"/>
              </a:rPr>
              <a:t>Multiply both operand </a:t>
            </a:r>
            <a:r>
              <a:rPr lang="en-IN" dirty="0"/>
              <a:t>                                                                      		    A * B will give 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54" y="8457773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/</a:t>
            </a:r>
            <a:r>
              <a:rPr lang="en-IN" dirty="0">
                <a:solidFill>
                  <a:srgbClr val="FFFF00"/>
                </a:solidFill>
              </a:rPr>
              <a:t>     </a:t>
            </a:r>
            <a:r>
              <a:rPr lang="en-IN" dirty="0"/>
              <a:t>                 </a:t>
            </a:r>
            <a:r>
              <a:rPr lang="en-IN" dirty="0">
                <a:latin typeface="verdana"/>
              </a:rPr>
              <a:t>Divide numerator by denominator                                       </a:t>
            </a:r>
            <a:r>
              <a:rPr lang="en-IN" dirty="0"/>
              <a:t>B/A will give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40" y="10327427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++</a:t>
            </a:r>
            <a:r>
              <a:rPr lang="en-IN" dirty="0">
                <a:solidFill>
                  <a:srgbClr val="FFFF00"/>
                </a:solidFill>
              </a:rPr>
              <a:t>   </a:t>
            </a:r>
            <a:r>
              <a:rPr lang="en-IN" dirty="0"/>
              <a:t>             </a:t>
            </a:r>
            <a:r>
              <a:rPr lang="en-IN" dirty="0">
                <a:latin typeface="verdana"/>
              </a:rPr>
              <a:t>Increment operator, increases integer value by one</a:t>
            </a:r>
            <a:r>
              <a:rPr lang="en-IN" dirty="0"/>
              <a:t>                     A++ will give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40" y="11264111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--</a:t>
            </a:r>
            <a:r>
              <a:rPr lang="en-IN" dirty="0">
                <a:solidFill>
                  <a:srgbClr val="FFFF00"/>
                </a:solidFill>
              </a:rPr>
              <a:t>    </a:t>
            </a:r>
            <a:r>
              <a:rPr lang="en-IN" dirty="0"/>
              <a:t>               </a:t>
            </a:r>
            <a:r>
              <a:rPr lang="en-IN" dirty="0">
                <a:latin typeface="verdana"/>
              </a:rPr>
              <a:t>Decrement operator, decreases integer value by one</a:t>
            </a:r>
            <a:r>
              <a:rPr lang="en-IN" dirty="0"/>
              <a:t>                   A-- will give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638" y="9413045"/>
            <a:ext cx="23945372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eaLnBrk="1" fontAlgn="t" latinLnBrk="0" hangingPunct="1"/>
            <a:r>
              <a:rPr lang="en-IN" sz="6000" dirty="0">
                <a:solidFill>
                  <a:srgbClr val="FFFF00"/>
                </a:solidFill>
              </a:rPr>
              <a:t>%</a:t>
            </a:r>
            <a:r>
              <a:rPr lang="en-IN" dirty="0">
                <a:solidFill>
                  <a:srgbClr val="FFFF00"/>
                </a:solidFill>
              </a:rPr>
              <a:t>       </a:t>
            </a:r>
            <a:r>
              <a:rPr lang="en-IN" dirty="0"/>
              <a:t>           </a:t>
            </a:r>
            <a:r>
              <a:rPr lang="en-IN" dirty="0">
                <a:latin typeface="verdana"/>
              </a:rPr>
              <a:t>Modulus Operator and remainder of after an integer division</a:t>
            </a:r>
            <a:r>
              <a:rPr lang="en-IN" dirty="0"/>
              <a:t>   B%A will give 0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86918" y="5320190"/>
            <a:ext cx="21135822" cy="1588"/>
          </a:xfrm>
          <a:prstGeom prst="line">
            <a:avLst/>
          </a:prstGeom>
          <a:noFill/>
          <a:ln w="25400" cap="flat">
            <a:solidFill>
              <a:schemeClr val="bg2">
                <a:lumMod val="40000"/>
                <a:lumOff val="60000"/>
              </a:scheme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40"/>
          <p:cNvSpPr/>
          <p:nvPr/>
        </p:nvSpPr>
        <p:spPr>
          <a:xfrm>
            <a:off x="2003014" y="466940"/>
            <a:ext cx="18481913" cy="1015663"/>
          </a:xfrm>
          <a:prstGeom prst="rect">
            <a:avLst/>
          </a:prstGeom>
          <a:ln w="12700">
            <a:miter lim="400000"/>
          </a:ln>
          <a:effectLst>
            <a:outerShdw blurRad="12700" dist="15247" dir="5400000" rotWithShape="0">
              <a:srgbClr val="000000">
                <a:alpha val="2268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r">
              <a:defRPr sz="7600" spc="-15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Operators</a:t>
            </a:r>
            <a:endParaRPr sz="6600" spc="-152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271" y="2150525"/>
            <a:ext cx="22620249" cy="1190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US" sz="6000" dirty="0">
                <a:solidFill>
                  <a:schemeClr val="tx1"/>
                </a:solidFill>
                <a:cs typeface="Arial" pitchFamily="34" charset="0"/>
              </a:rPr>
              <a:t>Given that </a:t>
            </a:r>
            <a:r>
              <a:rPr lang="en-US" sz="6000" b="1" dirty="0">
                <a:solidFill>
                  <a:srgbClr val="FFFF00"/>
                </a:solidFill>
                <a:cs typeface="Arial" pitchFamily="34" charset="0"/>
              </a:rPr>
              <a:t>x=5</a:t>
            </a:r>
            <a:r>
              <a:rPr lang="en-US" sz="6000" dirty="0">
                <a:solidFill>
                  <a:schemeClr val="tx1"/>
                </a:solidFill>
                <a:cs typeface="Arial" pitchFamily="34" charset="0"/>
              </a:rPr>
              <a:t>, the table below explains the comparison operator:</a:t>
            </a:r>
          </a:p>
          <a:p>
            <a:pPr lvl="0" rtl="0" latinLnBrk="1" hangingPunct="0"/>
            <a:r>
              <a:rPr lang="en-US" sz="800" dirty="0">
                <a:solidFill>
                  <a:schemeClr val="bg1"/>
                </a:solidFill>
                <a:cs typeface="Arial" pitchFamily="34" charset="0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711" y="4338792"/>
            <a:ext cx="298503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198" y="4297902"/>
            <a:ext cx="4020002" cy="1498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latinLnBrk="1" hangingPunct="0"/>
            <a:r>
              <a:rPr lang="en-IN" sz="4400" b="1" dirty="0">
                <a:solidFill>
                  <a:srgbClr val="FFFF00"/>
                </a:solidFill>
              </a:rPr>
              <a:t>Description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01591" y="4152612"/>
            <a:ext cx="6983336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098" y="5547353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==</a:t>
            </a:r>
            <a:r>
              <a:rPr lang="en-IN" dirty="0">
                <a:solidFill>
                  <a:srgbClr val="FFFF00"/>
                </a:solidFill>
              </a:rPr>
              <a:t>  </a:t>
            </a:r>
            <a:r>
              <a:rPr lang="en-IN" dirty="0"/>
              <a:t>                 </a:t>
            </a:r>
            <a:r>
              <a:rPr lang="en-IN" dirty="0">
                <a:latin typeface="verdana"/>
              </a:rPr>
              <a:t>Is equal to                                 </a:t>
            </a:r>
            <a:r>
              <a:rPr lang="en-IN" dirty="0"/>
              <a:t>             </a:t>
            </a:r>
            <a:r>
              <a:rPr lang="en-IN" dirty="0">
                <a:latin typeface="verdana"/>
              </a:rPr>
              <a:t>x==8        </a:t>
            </a:r>
            <a:r>
              <a:rPr lang="en-IN" dirty="0">
                <a:solidFill>
                  <a:srgbClr val="FFFF00"/>
                </a:solidFill>
                <a:latin typeface="verdana"/>
              </a:rPr>
              <a:t>false</a:t>
            </a:r>
            <a:r>
              <a:rPr lang="en-IN" dirty="0">
                <a:latin typeface="verdana"/>
              </a:rPr>
              <a:t>     </a:t>
            </a:r>
            <a:r>
              <a:rPr lang="en-US" dirty="0">
                <a:latin typeface="verdana"/>
              </a:rPr>
              <a:t>x==5    </a:t>
            </a:r>
            <a:r>
              <a:rPr lang="en-US" dirty="0">
                <a:solidFill>
                  <a:srgbClr val="FFFF00"/>
                </a:solidFill>
                <a:latin typeface="verdana"/>
              </a:rPr>
              <a:t>true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8384" y="6388325"/>
            <a:ext cx="22438937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600" dirty="0">
                <a:solidFill>
                  <a:srgbClr val="FFFF00"/>
                </a:solidFill>
              </a:rPr>
              <a:t>===</a:t>
            </a:r>
            <a:r>
              <a:rPr lang="en-IN" dirty="0"/>
              <a:t>             </a:t>
            </a:r>
            <a:r>
              <a:rPr lang="en-IN" dirty="0">
                <a:latin typeface="verdana"/>
              </a:rPr>
              <a:t>Is exactly equal to(value and type)        x===“5”   </a:t>
            </a:r>
            <a:r>
              <a:rPr lang="en-IN" dirty="0">
                <a:solidFill>
                  <a:srgbClr val="FFFF00"/>
                </a:solidFill>
                <a:latin typeface="verdana"/>
              </a:rPr>
              <a:t>false</a:t>
            </a:r>
            <a:r>
              <a:rPr lang="en-IN" dirty="0">
                <a:latin typeface="verdana"/>
              </a:rPr>
              <a:t>     x===5  </a:t>
            </a:r>
            <a:r>
              <a:rPr lang="en-IN" dirty="0">
                <a:solidFill>
                  <a:srgbClr val="FFFF00"/>
                </a:solidFill>
                <a:latin typeface="verdana"/>
              </a:rPr>
              <a:t>true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4670" y="7343597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!=</a:t>
            </a:r>
            <a:r>
              <a:rPr lang="en-IN" dirty="0">
                <a:solidFill>
                  <a:srgbClr val="FFFF00"/>
                </a:solidFill>
              </a:rPr>
              <a:t>   </a:t>
            </a:r>
            <a:r>
              <a:rPr lang="en-IN" dirty="0"/>
              <a:t>                 </a:t>
            </a:r>
            <a:r>
              <a:rPr lang="en-IN" dirty="0">
                <a:latin typeface="verdana"/>
              </a:rPr>
              <a:t>Is not equal </a:t>
            </a:r>
            <a:r>
              <a:rPr lang="en-IN" dirty="0"/>
              <a:t>                                                           x != 8       </a:t>
            </a:r>
            <a:r>
              <a:rPr lang="en-IN" dirty="0">
                <a:solidFill>
                  <a:srgbClr val="FFFF00"/>
                </a:solidFill>
              </a:rPr>
              <a:t>      true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54" y="8343473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!==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/>
              <a:t>               </a:t>
            </a:r>
            <a:r>
              <a:rPr lang="en-IN" dirty="0">
                <a:latin typeface="verdana"/>
              </a:rPr>
              <a:t>Is not equal (either value or type)          x !==“5”    </a:t>
            </a:r>
            <a:r>
              <a:rPr lang="en-IN" dirty="0">
                <a:solidFill>
                  <a:srgbClr val="FFFF00"/>
                </a:solidFill>
                <a:latin typeface="verdana"/>
              </a:rPr>
              <a:t>true</a:t>
            </a:r>
            <a:r>
              <a:rPr lang="en-IN" dirty="0">
                <a:latin typeface="verdana"/>
              </a:rPr>
              <a:t>      x!==5   </a:t>
            </a:r>
            <a:r>
              <a:rPr lang="en-IN" dirty="0">
                <a:solidFill>
                  <a:srgbClr val="FFFF00"/>
                </a:solidFill>
                <a:latin typeface="verdana"/>
              </a:rPr>
              <a:t>false</a:t>
            </a:r>
            <a:r>
              <a:rPr lang="en-IN" dirty="0">
                <a:latin typeface="verdana"/>
              </a:rPr>
              <a:t> 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854940" y="10057013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&lt;</a:t>
            </a:r>
            <a:r>
              <a:rPr lang="en-IN" dirty="0"/>
              <a:t>                     </a:t>
            </a:r>
            <a:r>
              <a:rPr lang="en-IN" dirty="0">
                <a:latin typeface="verdana"/>
              </a:rPr>
              <a:t>Is less than</a:t>
            </a:r>
            <a:r>
              <a:rPr lang="en-IN" dirty="0"/>
              <a:t>                                                               x &lt; 8                </a:t>
            </a:r>
            <a:r>
              <a:rPr lang="en-IN" dirty="0">
                <a:solidFill>
                  <a:srgbClr val="FFFF00"/>
                </a:solidFill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40" y="10993697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&gt;=</a:t>
            </a:r>
            <a:r>
              <a:rPr lang="en-IN" dirty="0"/>
              <a:t>                 </a:t>
            </a:r>
            <a:r>
              <a:rPr lang="en-IN" dirty="0">
                <a:latin typeface="verdana"/>
              </a:rPr>
              <a:t>Is greater than or equal to</a:t>
            </a:r>
            <a:r>
              <a:rPr lang="en-IN" dirty="0"/>
              <a:t>                                x&gt;=8                </a:t>
            </a:r>
            <a:r>
              <a:rPr lang="en-IN" dirty="0">
                <a:solidFill>
                  <a:srgbClr val="FFFF00"/>
                </a:solidFill>
              </a:rPr>
              <a:t>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638" y="9323837"/>
            <a:ext cx="23945372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&gt;</a:t>
            </a:r>
            <a:r>
              <a:rPr lang="en-IN" dirty="0"/>
              <a:t>                     </a:t>
            </a:r>
            <a:r>
              <a:rPr lang="en-IN" dirty="0">
                <a:latin typeface="verdana"/>
              </a:rPr>
              <a:t>Is greater than</a:t>
            </a:r>
            <a:r>
              <a:rPr lang="en-IN" dirty="0"/>
              <a:t>                                                        x &gt; 8               </a:t>
            </a:r>
            <a:r>
              <a:rPr lang="en-IN" dirty="0">
                <a:solidFill>
                  <a:srgbClr val="FFFF00"/>
                </a:solidFill>
              </a:rPr>
              <a:t>false     </a:t>
            </a:r>
            <a:r>
              <a:rPr lang="en-IN" dirty="0"/>
              <a:t>       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86918" y="5320190"/>
            <a:ext cx="21135822" cy="1588"/>
          </a:xfrm>
          <a:prstGeom prst="line">
            <a:avLst/>
          </a:prstGeom>
          <a:noFill/>
          <a:ln w="25400" cap="flat">
            <a:solidFill>
              <a:schemeClr val="bg2">
                <a:lumMod val="40000"/>
                <a:lumOff val="60000"/>
              </a:scheme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Box 24"/>
          <p:cNvSpPr txBox="1"/>
          <p:nvPr/>
        </p:nvSpPr>
        <p:spPr>
          <a:xfrm>
            <a:off x="893040" y="11786177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&lt;=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/>
              <a:t>               </a:t>
            </a:r>
            <a:r>
              <a:rPr lang="en-IN" dirty="0">
                <a:latin typeface="verdana"/>
              </a:rPr>
              <a:t>Is less than or equal </a:t>
            </a:r>
            <a:r>
              <a:rPr lang="en-IN">
                <a:latin typeface="verdana"/>
              </a:rPr>
              <a:t>to                           x</a:t>
            </a:r>
            <a:r>
              <a:rPr lang="en-IN" dirty="0">
                <a:latin typeface="verdana"/>
              </a:rPr>
              <a:t>&lt;=</a:t>
            </a:r>
            <a:r>
              <a:rPr lang="en-IN">
                <a:latin typeface="verdana"/>
              </a:rPr>
              <a:t>8          </a:t>
            </a:r>
            <a:r>
              <a:rPr lang="en-IN">
                <a:solidFill>
                  <a:srgbClr val="FFFF00"/>
                </a:solidFill>
                <a:latin typeface="verdana"/>
              </a:rPr>
              <a:t>true</a:t>
            </a:r>
            <a:endParaRPr lang="en-IN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40"/>
          <p:cNvSpPr/>
          <p:nvPr/>
        </p:nvSpPr>
        <p:spPr>
          <a:xfrm>
            <a:off x="2003014" y="466940"/>
            <a:ext cx="18481913" cy="1015663"/>
          </a:xfrm>
          <a:prstGeom prst="rect">
            <a:avLst/>
          </a:prstGeom>
          <a:ln w="12700">
            <a:miter lim="400000"/>
          </a:ln>
          <a:effectLst>
            <a:outerShdw blurRad="12700" dist="15247" dir="5400000" rotWithShape="0">
              <a:srgbClr val="000000">
                <a:alpha val="2268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r">
              <a:defRPr sz="7600" spc="-15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  <a:endParaRPr sz="6600" spc="-152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271" y="2551961"/>
            <a:ext cx="22620249" cy="1498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1"/>
                </a:solidFill>
                <a:cs typeface="Arial" pitchFamily="34" charset="0"/>
              </a:rPr>
              <a:t>Logical operators are used to determine the logic between variables or values.          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1"/>
                </a:solidFill>
                <a:cs typeface="Arial" pitchFamily="34" charset="0"/>
              </a:rPr>
              <a:t>Given  that </a:t>
            </a:r>
            <a:r>
              <a:rPr lang="en-US" sz="4400" b="1" dirty="0">
                <a:solidFill>
                  <a:srgbClr val="FFFF00"/>
                </a:solidFill>
                <a:cs typeface="Arial" pitchFamily="34" charset="0"/>
              </a:rPr>
              <a:t>x=6</a:t>
            </a:r>
            <a:r>
              <a:rPr lang="en-US" sz="4400" b="1" dirty="0">
                <a:solidFill>
                  <a:schemeClr val="bg1"/>
                </a:solidFill>
                <a:cs typeface="Arial" pitchFamily="34" charset="0"/>
              </a:rPr>
              <a:t> and </a:t>
            </a:r>
            <a:r>
              <a:rPr lang="en-US" sz="4400" b="1" dirty="0">
                <a:solidFill>
                  <a:srgbClr val="FFFF00"/>
                </a:solidFill>
                <a:cs typeface="Arial" pitchFamily="34" charset="0"/>
              </a:rPr>
              <a:t>y=3</a:t>
            </a:r>
            <a:r>
              <a:rPr lang="en-US" sz="4400" dirty="0">
                <a:solidFill>
                  <a:schemeClr val="bg1"/>
                </a:solidFill>
                <a:cs typeface="Arial" pitchFamily="34" charset="0"/>
              </a:rPr>
              <a:t>, the table below explains the logical operators: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711" y="5520798"/>
            <a:ext cx="298503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3974" y="5481538"/>
            <a:ext cx="4020002" cy="1498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latinLnBrk="1" hangingPunct="0"/>
            <a:r>
              <a:rPr lang="en-IN" sz="4400" b="1" dirty="0">
                <a:solidFill>
                  <a:srgbClr val="FFFF00"/>
                </a:solidFill>
              </a:rPr>
              <a:t>Description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44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501591" y="5392330"/>
            <a:ext cx="6983336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latinLnBrk="1" hangingPunct="0"/>
            <a:r>
              <a:rPr lang="en-IN" sz="4400" b="1" dirty="0">
                <a:solidFill>
                  <a:srgbClr val="FFFF00"/>
                </a:solidFill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098" y="7117979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&amp;&amp;</a:t>
            </a:r>
            <a:r>
              <a:rPr lang="en-IN" dirty="0"/>
              <a:t>                                     </a:t>
            </a:r>
            <a:r>
              <a:rPr lang="en-IN" dirty="0">
                <a:latin typeface="verdana"/>
              </a:rPr>
              <a:t>AND                            </a:t>
            </a:r>
            <a:r>
              <a:rPr lang="en-IN" dirty="0"/>
              <a:t>             </a:t>
            </a:r>
            <a:r>
              <a:rPr lang="en-IN" dirty="0">
                <a:latin typeface="verdana"/>
              </a:rPr>
              <a:t>(x &lt; 10 &amp;&amp; y &gt; 1) is true  </a:t>
            </a:r>
            <a:endParaRPr lang="en-IN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8384" y="8644751"/>
            <a:ext cx="22438937" cy="11599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600" dirty="0">
                <a:solidFill>
                  <a:srgbClr val="FFFF00"/>
                </a:solidFill>
              </a:rPr>
              <a:t>||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/>
              <a:t>                                         </a:t>
            </a:r>
            <a:r>
              <a:rPr lang="en-IN" dirty="0">
                <a:latin typeface="verdana"/>
              </a:rPr>
              <a:t>OR                                        (x==5 || y==5) is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670" y="10308683"/>
            <a:ext cx="22438937" cy="10675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6000" dirty="0">
                <a:solidFill>
                  <a:srgbClr val="FFFF00"/>
                </a:solidFill>
              </a:rPr>
              <a:t>!</a:t>
            </a:r>
            <a:r>
              <a:rPr lang="en-IN" dirty="0">
                <a:solidFill>
                  <a:srgbClr val="FFFF00"/>
                </a:solidFill>
              </a:rPr>
              <a:t>  </a:t>
            </a:r>
            <a:r>
              <a:rPr lang="en-IN" dirty="0"/>
              <a:t>                                          </a:t>
            </a:r>
            <a:r>
              <a:rPr lang="en-IN" dirty="0">
                <a:latin typeface="verdana"/>
              </a:rPr>
              <a:t>NOT</a:t>
            </a:r>
            <a:r>
              <a:rPr lang="en-IN" dirty="0"/>
              <a:t>                                                        </a:t>
            </a:r>
            <a:r>
              <a:rPr lang="en-IN" dirty="0">
                <a:latin typeface="verdana"/>
              </a:rPr>
              <a:t>!(x==y) is true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86918" y="6502196"/>
            <a:ext cx="21135822" cy="1588"/>
          </a:xfrm>
          <a:prstGeom prst="line">
            <a:avLst/>
          </a:prstGeom>
          <a:noFill/>
          <a:ln w="25400" cap="flat">
            <a:solidFill>
              <a:schemeClr val="bg2">
                <a:lumMod val="40000"/>
                <a:lumOff val="60000"/>
              </a:scheme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40"/>
          <p:cNvSpPr/>
          <p:nvPr/>
        </p:nvSpPr>
        <p:spPr>
          <a:xfrm>
            <a:off x="2003014" y="466940"/>
            <a:ext cx="18481913" cy="1015663"/>
          </a:xfrm>
          <a:prstGeom prst="rect">
            <a:avLst/>
          </a:prstGeom>
          <a:ln w="12700">
            <a:miter lim="400000"/>
          </a:ln>
          <a:effectLst>
            <a:outerShdw blurRad="12700" dist="15247" dir="5400000" rotWithShape="0">
              <a:srgbClr val="000000">
                <a:alpha val="2268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r">
              <a:defRPr sz="7600" spc="-15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Operators</a:t>
            </a:r>
            <a:endParaRPr sz="6600" spc="-152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271" y="2150525"/>
            <a:ext cx="22620249" cy="14984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tx1"/>
                </a:solidFill>
                <a:cs typeface="Arial" pitchFamily="34" charset="0"/>
              </a:rPr>
              <a:t>Assignment operators are used to assign values to JavaScript variables.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tx1"/>
                </a:solidFill>
                <a:cs typeface="Arial" pitchFamily="34" charset="0"/>
              </a:rPr>
              <a:t>Given that </a:t>
            </a:r>
            <a:r>
              <a:rPr lang="en-US" sz="4400" b="1" dirty="0">
                <a:solidFill>
                  <a:srgbClr val="FFFF00"/>
                </a:solidFill>
                <a:cs typeface="Arial" pitchFamily="34" charset="0"/>
              </a:rPr>
              <a:t>x=10</a:t>
            </a:r>
            <a:r>
              <a:rPr lang="en-US" sz="4400" dirty="0">
                <a:solidFill>
                  <a:schemeClr val="tx1"/>
                </a:solidFill>
                <a:cs typeface="Arial" pitchFamily="34" charset="0"/>
              </a:rPr>
              <a:t> and </a:t>
            </a:r>
            <a:r>
              <a:rPr lang="en-US" sz="4400" b="1" dirty="0">
                <a:solidFill>
                  <a:srgbClr val="FFFF00"/>
                </a:solidFill>
                <a:cs typeface="Arial" pitchFamily="34" charset="0"/>
              </a:rPr>
              <a:t>y=5</a:t>
            </a:r>
            <a:r>
              <a:rPr lang="en-US" sz="4400" dirty="0">
                <a:solidFill>
                  <a:schemeClr val="tx1"/>
                </a:solidFill>
                <a:cs typeface="Arial" pitchFamily="34" charset="0"/>
              </a:rPr>
              <a:t>, the table below explains the assignment operators</a:t>
            </a:r>
            <a:r>
              <a:rPr lang="en-US" sz="4400" dirty="0">
                <a:solidFill>
                  <a:schemeClr val="bg1"/>
                </a:solidFill>
                <a:cs typeface="Arial" pitchFamily="34" charset="0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711" y="4338792"/>
            <a:ext cx="298503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7438" y="4210324"/>
            <a:ext cx="4020002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Same</a:t>
            </a:r>
            <a:r>
              <a:rPr kumimoji="0" lang="en-US" sz="4400" b="1" i="0" u="none" strike="noStrike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 As</a:t>
            </a:r>
            <a:endParaRPr kumimoji="0" lang="en-IN" sz="44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8198" y="4210324"/>
            <a:ext cx="6983336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4400" b="1" dirty="0">
                <a:solidFill>
                  <a:srgbClr val="FFFF00"/>
                </a:solidFill>
              </a:rPr>
              <a:t>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098" y="5547353"/>
            <a:ext cx="22438937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4800" dirty="0">
                <a:solidFill>
                  <a:srgbClr val="FFFF00"/>
                </a:solidFill>
              </a:rPr>
              <a:t>=  </a:t>
            </a:r>
            <a:r>
              <a:rPr lang="en-IN" sz="4800" dirty="0"/>
              <a:t>                                   </a:t>
            </a:r>
            <a:r>
              <a:rPr lang="en-IN" sz="4800" dirty="0">
                <a:latin typeface="verdana"/>
              </a:rPr>
              <a:t>x=y                                    x=5                               </a:t>
            </a:r>
            <a:r>
              <a:rPr lang="en-IN" sz="4800" dirty="0"/>
              <a:t>             </a:t>
            </a:r>
            <a:endParaRPr lang="en-IN" sz="4800" dirty="0">
              <a:solidFill>
                <a:schemeClr val="accent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1251" y="6616925"/>
            <a:ext cx="22438937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4800" dirty="0">
                <a:solidFill>
                  <a:srgbClr val="FFFF00"/>
                </a:solidFill>
              </a:rPr>
              <a:t>+=  </a:t>
            </a:r>
            <a:r>
              <a:rPr lang="en-IN" sz="4800" dirty="0"/>
              <a:t>                                 x+=y                   x=</a:t>
            </a:r>
            <a:r>
              <a:rPr lang="en-IN" sz="4800" dirty="0" err="1"/>
              <a:t>x+y</a:t>
            </a:r>
            <a:r>
              <a:rPr lang="en-IN" sz="4800" dirty="0"/>
              <a:t>                      x=15</a:t>
            </a:r>
            <a:endParaRPr lang="en-IN" sz="4800" dirty="0">
              <a:solidFill>
                <a:schemeClr val="accent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4670" y="7572197"/>
            <a:ext cx="22438937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4800" dirty="0">
                <a:solidFill>
                  <a:srgbClr val="FFFF00"/>
                </a:solidFill>
              </a:rPr>
              <a:t>-=   </a:t>
            </a:r>
            <a:r>
              <a:rPr lang="en-IN" sz="4800" dirty="0"/>
              <a:t>                                 x-=y                   x=x-y                       x=5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54" y="8572073"/>
            <a:ext cx="22438937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4800" dirty="0">
                <a:solidFill>
                  <a:srgbClr val="FFFF00"/>
                </a:solidFill>
              </a:rPr>
              <a:t>*=   </a:t>
            </a:r>
            <a:r>
              <a:rPr lang="en-IN" sz="4800" dirty="0"/>
              <a:t>                                 </a:t>
            </a:r>
            <a:r>
              <a:rPr lang="en-IN" sz="4800" dirty="0">
                <a:latin typeface="verdana"/>
              </a:rPr>
              <a:t>x*=y           x=x*y              x=50 </a:t>
            </a:r>
            <a:endParaRPr lang="en-IN" sz="4800" dirty="0"/>
          </a:p>
        </p:txBody>
      </p:sp>
      <p:sp>
        <p:nvSpPr>
          <p:cNvPr id="22" name="TextBox 21"/>
          <p:cNvSpPr txBox="1"/>
          <p:nvPr/>
        </p:nvSpPr>
        <p:spPr>
          <a:xfrm>
            <a:off x="854940" y="10464029"/>
            <a:ext cx="22438937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4800" dirty="0">
                <a:solidFill>
                  <a:srgbClr val="FFFF00"/>
                </a:solidFill>
              </a:rPr>
              <a:t>%= </a:t>
            </a:r>
            <a:r>
              <a:rPr lang="en-IN" sz="4800" dirty="0"/>
              <a:t>                                 x%=y                 x=</a:t>
            </a:r>
            <a:r>
              <a:rPr lang="en-IN" sz="4800" dirty="0" err="1"/>
              <a:t>x%y</a:t>
            </a:r>
            <a:r>
              <a:rPr lang="en-IN" sz="4800" dirty="0"/>
              <a:t>                     x=0</a:t>
            </a:r>
            <a:endParaRPr lang="en-IN" sz="4800" dirty="0">
              <a:solidFill>
                <a:schemeClr val="accent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2638" y="9552437"/>
            <a:ext cx="23945372" cy="882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 rtl="0" fontAlgn="t"/>
            <a:r>
              <a:rPr lang="en-IN" sz="4800" dirty="0">
                <a:solidFill>
                  <a:srgbClr val="FFFF00"/>
                </a:solidFill>
              </a:rPr>
              <a:t>/=</a:t>
            </a:r>
            <a:r>
              <a:rPr lang="en-IN" sz="4800" dirty="0"/>
              <a:t>                                    x/=y                  x=x/y                       x=2</a:t>
            </a:r>
            <a:r>
              <a:rPr lang="en-IN" sz="4800" dirty="0">
                <a:solidFill>
                  <a:schemeClr val="accent3"/>
                </a:solidFill>
              </a:rPr>
              <a:t>    </a:t>
            </a:r>
            <a:r>
              <a:rPr lang="en-IN" sz="4800" dirty="0"/>
              <a:t>        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786918" y="5320190"/>
            <a:ext cx="21135822" cy="1588"/>
          </a:xfrm>
          <a:prstGeom prst="line">
            <a:avLst/>
          </a:prstGeom>
          <a:noFill/>
          <a:ln w="25400" cap="flat">
            <a:solidFill>
              <a:schemeClr val="bg2">
                <a:lumMod val="40000"/>
                <a:lumOff val="60000"/>
              </a:schemeClr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TextBox 26"/>
          <p:cNvSpPr txBox="1"/>
          <p:nvPr/>
        </p:nvSpPr>
        <p:spPr>
          <a:xfrm>
            <a:off x="14671858" y="4225564"/>
            <a:ext cx="4020002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Result</a:t>
            </a:r>
            <a:endParaRPr kumimoji="0" lang="en-IN" sz="44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6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typeof</a:t>
            </a: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Operator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44" y="6200075"/>
            <a:ext cx="9306951" cy="3837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</a:t>
            </a:r>
          </a:p>
          <a:p>
            <a:pPr marL="0" indent="0" algn="l">
              <a:buNone/>
            </a:pPr>
            <a:endParaRPr lang="en-US" sz="5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IN" sz="4400" b="1" dirty="0" err="1">
                <a:solidFill>
                  <a:srgbClr val="FFFF00"/>
                </a:solidFill>
              </a:rPr>
              <a:t>typeof</a:t>
            </a:r>
            <a:r>
              <a:rPr lang="en-IN" sz="4400" b="1" dirty="0">
                <a:solidFill>
                  <a:srgbClr val="FFFF00"/>
                </a:solidFill>
              </a:rPr>
              <a:t> operand </a:t>
            </a:r>
          </a:p>
          <a:p>
            <a:pPr marL="0" indent="0" algn="l">
              <a:buNone/>
            </a:pPr>
            <a:r>
              <a:rPr lang="en-IN" sz="4400" dirty="0"/>
              <a:t>OR </a:t>
            </a:r>
          </a:p>
          <a:p>
            <a:pPr marL="0" indent="0" algn="l">
              <a:buNone/>
            </a:pPr>
            <a:r>
              <a:rPr lang="en-IN" sz="4400" b="1" dirty="0" err="1">
                <a:solidFill>
                  <a:srgbClr val="FFFF00"/>
                </a:solidFill>
              </a:rPr>
              <a:t>typeof</a:t>
            </a:r>
            <a:r>
              <a:rPr lang="en-IN" sz="4400" b="1" dirty="0">
                <a:solidFill>
                  <a:srgbClr val="FFFF00"/>
                </a:solidFill>
              </a:rPr>
              <a:t> (operand</a:t>
            </a:r>
            <a:r>
              <a:rPr lang="en-IN" sz="4400" dirty="0"/>
              <a:t>)</a:t>
            </a:r>
            <a:endParaRPr lang="en-IN" sz="4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hape 1459"/>
          <p:cNvSpPr/>
          <p:nvPr/>
        </p:nvSpPr>
        <p:spPr>
          <a:xfrm>
            <a:off x="706844" y="4222337"/>
            <a:ext cx="17872098" cy="45719"/>
          </a:xfrm>
          <a:prstGeom prst="line">
            <a:avLst/>
          </a:prstGeom>
          <a:ln w="25400">
            <a:solidFill>
              <a:srgbClr val="03CADF">
                <a:alpha val="26655"/>
              </a:srgbClr>
            </a:solidFill>
            <a:miter lim="400000"/>
          </a:ln>
        </p:spPr>
        <p:txBody>
          <a:bodyPr lIns="0" tIns="0" rIns="0" bIns="0" anchor="ctr"/>
          <a:lstStyle/>
          <a:p>
            <a:pPr lvl="0" algn="l">
              <a:lnSpc>
                <a:spcPct val="110000"/>
              </a:lnSpc>
              <a:defRPr sz="2700">
                <a:latin typeface="Lato Regular"/>
                <a:ea typeface="Lato Regular"/>
                <a:cs typeface="Lato Regular"/>
                <a:sym typeface="Lato Regular"/>
              </a:defRPr>
            </a:pPr>
            <a:endParaRPr/>
          </a:p>
        </p:txBody>
      </p:sp>
      <p:sp>
        <p:nvSpPr>
          <p:cNvPr id="8" name="Shape 1469"/>
          <p:cNvSpPr/>
          <p:nvPr/>
        </p:nvSpPr>
        <p:spPr>
          <a:xfrm>
            <a:off x="706844" y="2913839"/>
            <a:ext cx="19960614" cy="270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IN" sz="4400" dirty="0"/>
              <a:t>In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, the </a:t>
            </a:r>
            <a:r>
              <a:rPr lang="en-IN" sz="4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typeof</a:t>
            </a:r>
            <a:r>
              <a:rPr lang="en-IN" sz="4400" dirty="0"/>
              <a:t> operator </a:t>
            </a:r>
            <a:r>
              <a:rPr lang="en-IN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returns</a:t>
            </a:r>
            <a:r>
              <a:rPr lang="en-IN" sz="4400" dirty="0"/>
              <a:t> the </a:t>
            </a: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type </a:t>
            </a:r>
            <a:r>
              <a:rPr lang="en-IN" sz="4400" dirty="0"/>
              <a:t>of its </a:t>
            </a:r>
            <a:r>
              <a:rPr lang="en-IN" sz="4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operand</a:t>
            </a:r>
            <a:r>
              <a:rPr lang="en-IN" sz="4400" dirty="0"/>
              <a:t> in the </a:t>
            </a:r>
            <a:r>
              <a:rPr lang="en-IN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form</a:t>
            </a:r>
            <a:r>
              <a:rPr lang="en-IN" sz="4400" dirty="0"/>
              <a:t> of a string. </a:t>
            </a:r>
          </a:p>
          <a:p>
            <a:pPr algn="l"/>
            <a:endParaRPr lang="en-IN" sz="4400" dirty="0"/>
          </a:p>
          <a:p>
            <a:pPr algn="l"/>
            <a:r>
              <a:rPr lang="en-IN" sz="4400" dirty="0"/>
              <a:t>Operand can be  </a:t>
            </a:r>
            <a:r>
              <a:rPr lang="en-IN" sz="4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variables</a:t>
            </a:r>
            <a:r>
              <a:rPr lang="en-IN" sz="4400" dirty="0"/>
              <a:t> , </a:t>
            </a:r>
            <a:r>
              <a:rPr lang="en-IN" sz="4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expressions</a:t>
            </a:r>
            <a:r>
              <a:rPr lang="en-IN" sz="4400" dirty="0"/>
              <a:t>  and even </a:t>
            </a:r>
            <a:r>
              <a:rPr lang="en-IN" sz="4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objects</a:t>
            </a:r>
            <a:r>
              <a:rPr lang="en-IN" sz="4400" dirty="0"/>
              <a:t>.</a:t>
            </a:r>
            <a:endParaRPr sz="440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6844" y="6200075"/>
            <a:ext cx="12556273" cy="7069873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26790" y="6200074"/>
            <a:ext cx="10437542" cy="95622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42);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"number“</a:t>
            </a: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‘</a:t>
            </a:r>
            <a:r>
              <a:rPr lang="en-IN" sz="4000" dirty="0" err="1">
                <a:solidFill>
                  <a:srgbClr val="FFFF00"/>
                </a:solidFill>
              </a:rPr>
              <a:t>bhopal</a:t>
            </a:r>
            <a:r>
              <a:rPr lang="en-IN" sz="4000" dirty="0">
                <a:solidFill>
                  <a:srgbClr val="FFFF00"/>
                </a:solidFill>
              </a:rPr>
              <a:t>');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"string“</a:t>
            </a: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true);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</a:t>
            </a:r>
            <a:r>
              <a:rPr lang="en-IN" sz="40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boolean</a:t>
            </a:r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 </a:t>
            </a: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(3+4));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“number"</a:t>
            </a:r>
          </a:p>
          <a:p>
            <a:pPr algn="l"/>
            <a:endParaRPr lang="en-IN" sz="4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US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More Examples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1325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(3.4));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"number"</a:t>
            </a:r>
          </a:p>
          <a:p>
            <a:pPr algn="l"/>
            <a:endParaRPr lang="en-US" sz="4000" dirty="0">
              <a:solidFill>
                <a:srgbClr val="FFFF00"/>
              </a:solidFill>
            </a:endParaRPr>
          </a:p>
          <a:p>
            <a:pPr algn="l"/>
            <a:r>
              <a:rPr lang="en-US" sz="4000" dirty="0" err="1">
                <a:solidFill>
                  <a:srgbClr val="FFFF00"/>
                </a:solidFill>
              </a:rPr>
              <a:t>var</a:t>
            </a:r>
            <a:r>
              <a:rPr lang="en-US" sz="4000" dirty="0">
                <a:solidFill>
                  <a:srgbClr val="FFFF00"/>
                </a:solidFill>
              </a:rPr>
              <a:t> </a:t>
            </a:r>
            <a:r>
              <a:rPr lang="en-US" sz="4000" dirty="0" err="1">
                <a:solidFill>
                  <a:srgbClr val="FFFF00"/>
                </a:solidFill>
              </a:rPr>
              <a:t>myCar</a:t>
            </a:r>
            <a:r>
              <a:rPr lang="en-US" sz="4000" dirty="0">
                <a:solidFill>
                  <a:srgbClr val="FFFF00"/>
                </a:solidFill>
              </a:rPr>
              <a:t>;</a:t>
            </a:r>
            <a:endParaRPr lang="en-IN" sz="4000" dirty="0">
              <a:solidFill>
                <a:srgbClr val="FFFF00"/>
              </a:solidFill>
            </a:endParaRP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 </a:t>
            </a:r>
            <a:r>
              <a:rPr lang="en-IN" sz="4000" dirty="0" err="1">
                <a:solidFill>
                  <a:srgbClr val="FFFF00"/>
                </a:solidFill>
              </a:rPr>
              <a:t>myCar</a:t>
            </a:r>
            <a:r>
              <a:rPr lang="en-IN" sz="4000" dirty="0">
                <a:solidFill>
                  <a:srgbClr val="FFFF00"/>
                </a:solidFill>
              </a:rPr>
              <a:t>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"undefined "</a:t>
            </a:r>
          </a:p>
          <a:p>
            <a:pPr algn="l"/>
            <a:endParaRPr lang="en-US" sz="4000" dirty="0">
              <a:solidFill>
                <a:srgbClr val="FFFF00"/>
              </a:solidFill>
            </a:endParaRPr>
          </a:p>
          <a:p>
            <a:pPr algn="l"/>
            <a:r>
              <a:rPr lang="en-US" sz="4000" dirty="0" err="1">
                <a:solidFill>
                  <a:srgbClr val="FFFF00"/>
                </a:solidFill>
              </a:rPr>
              <a:t>var</a:t>
            </a:r>
            <a:r>
              <a:rPr lang="en-US" sz="4000" dirty="0">
                <a:solidFill>
                  <a:srgbClr val="FFFF00"/>
                </a:solidFill>
              </a:rPr>
              <a:t> </a:t>
            </a:r>
            <a:r>
              <a:rPr lang="en-US" sz="4000" dirty="0" err="1">
                <a:solidFill>
                  <a:srgbClr val="FFFF00"/>
                </a:solidFill>
              </a:rPr>
              <a:t>myBike</a:t>
            </a:r>
            <a:r>
              <a:rPr lang="en-US" sz="4000" dirty="0">
                <a:solidFill>
                  <a:srgbClr val="FFFF00"/>
                </a:solidFill>
              </a:rPr>
              <a:t>=</a:t>
            </a:r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4000" dirty="0">
                <a:solidFill>
                  <a:srgbClr val="FFFF00"/>
                </a:solidFill>
              </a:rPr>
              <a:t>" "</a:t>
            </a:r>
            <a:r>
              <a:rPr lang="en-US" sz="4000" dirty="0">
                <a:solidFill>
                  <a:srgbClr val="FFFF00"/>
                </a:solidFill>
              </a:rPr>
              <a:t>;</a:t>
            </a:r>
            <a:endParaRPr lang="en-IN" sz="4000" dirty="0">
              <a:solidFill>
                <a:srgbClr val="FFFF00"/>
              </a:solidFill>
            </a:endParaRP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 </a:t>
            </a:r>
            <a:r>
              <a:rPr lang="en-IN" sz="4000" dirty="0" err="1">
                <a:solidFill>
                  <a:srgbClr val="FFFF00"/>
                </a:solidFill>
              </a:rPr>
              <a:t>myBike</a:t>
            </a:r>
            <a:r>
              <a:rPr lang="en-IN" sz="4000" dirty="0">
                <a:solidFill>
                  <a:srgbClr val="FFFF00"/>
                </a:solidFill>
              </a:rPr>
              <a:t>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"string“</a:t>
            </a:r>
          </a:p>
          <a:p>
            <a:pPr algn="l"/>
            <a:endParaRPr lang="en-US" sz="4000" dirty="0">
              <a:solidFill>
                <a:srgbClr val="FFFF00"/>
              </a:solidFill>
            </a:endParaRPr>
          </a:p>
          <a:p>
            <a:pPr algn="l"/>
            <a:r>
              <a:rPr lang="en-US" sz="4000" dirty="0" err="1">
                <a:solidFill>
                  <a:srgbClr val="FFFF00"/>
                </a:solidFill>
              </a:rPr>
              <a:t>var</a:t>
            </a:r>
            <a:r>
              <a:rPr lang="en-US" sz="4000" dirty="0">
                <a:solidFill>
                  <a:srgbClr val="FFFF00"/>
                </a:solidFill>
              </a:rPr>
              <a:t> </a:t>
            </a:r>
            <a:r>
              <a:rPr lang="en-US" sz="4000" dirty="0" err="1">
                <a:solidFill>
                  <a:srgbClr val="FFFF00"/>
                </a:solidFill>
              </a:rPr>
              <a:t>myBicycle</a:t>
            </a:r>
            <a:r>
              <a:rPr lang="en-US" sz="4000" dirty="0">
                <a:solidFill>
                  <a:srgbClr val="FFFF00"/>
                </a:solidFill>
              </a:rPr>
              <a:t>=null;</a:t>
            </a:r>
            <a:endParaRPr lang="en-IN" sz="4000" dirty="0">
              <a:solidFill>
                <a:srgbClr val="FFFF00"/>
              </a:solidFill>
            </a:endParaRPr>
          </a:p>
          <a:p>
            <a:pPr algn="l"/>
            <a:r>
              <a:rPr lang="en-IN" sz="4000" dirty="0">
                <a:solidFill>
                  <a:srgbClr val="FFFF00"/>
                </a:solidFill>
              </a:rPr>
              <a:t>console.log(</a:t>
            </a:r>
            <a:r>
              <a:rPr lang="en-IN" sz="4000" dirty="0" err="1">
                <a:solidFill>
                  <a:srgbClr val="FFFF00"/>
                </a:solidFill>
              </a:rPr>
              <a:t>typeof</a:t>
            </a:r>
            <a:r>
              <a:rPr lang="en-IN" sz="4000" dirty="0">
                <a:solidFill>
                  <a:srgbClr val="FFFF00"/>
                </a:solidFill>
              </a:rPr>
              <a:t>  </a:t>
            </a:r>
            <a:r>
              <a:rPr lang="en-IN" sz="4000" dirty="0" err="1">
                <a:solidFill>
                  <a:srgbClr val="FFFF00"/>
                </a:solidFill>
              </a:rPr>
              <a:t>myBicycle</a:t>
            </a:r>
            <a:r>
              <a:rPr lang="en-IN" sz="4000" dirty="0">
                <a:solidFill>
                  <a:srgbClr val="FFFF00"/>
                </a:solidFill>
              </a:rPr>
              <a:t>);</a:t>
            </a:r>
          </a:p>
          <a:p>
            <a:pPr algn="l"/>
            <a:r>
              <a:rPr lang="en-IN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 output: "object"</a:t>
            </a:r>
          </a:p>
          <a:p>
            <a:pPr algn="l"/>
            <a:endParaRPr lang="en-IN" sz="4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US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0" name="Oval Callout 9"/>
          <p:cNvSpPr/>
          <p:nvPr/>
        </p:nvSpPr>
        <p:spPr>
          <a:xfrm>
            <a:off x="11269651" y="8891464"/>
            <a:ext cx="8553236" cy="4357675"/>
          </a:xfrm>
          <a:prstGeom prst="wedgeEllipseCallout">
            <a:avLst>
              <a:gd name="adj1" fmla="val -125323"/>
              <a:gd name="adj2" fmla="val 38344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This is considered to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be a bug within JS as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it is expected that </a:t>
            </a:r>
            <a:r>
              <a:rPr kumimoji="0" lang="en-US" sz="3200" b="1" i="0" u="sng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null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</a:t>
            </a:r>
          </a:p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itself is a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data type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. </a:t>
            </a:r>
          </a:p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More </a:t>
            </a:r>
            <a:r>
              <a:rPr lang="en-US" sz="3200" dirty="0">
                <a:latin typeface="Helvetica Light"/>
                <a:ea typeface="Helvetica Light"/>
                <a:cs typeface="Helvetica Light"/>
                <a:sym typeface="Helvetica Light"/>
              </a:rPr>
              <a:t>on </a:t>
            </a:r>
            <a:r>
              <a:rPr lang="en-US" sz="3200" dirty="0" err="1">
                <a:latin typeface="Helvetica Light"/>
                <a:ea typeface="Helvetica Light"/>
                <a:cs typeface="Helvetica Light"/>
                <a:sym typeface="Helvetica Light"/>
              </a:rPr>
              <a:t>this:https</a:t>
            </a:r>
            <a:r>
              <a:rPr lang="en-US" sz="3200" dirty="0">
                <a:latin typeface="Helvetica Light"/>
                <a:ea typeface="Helvetica Light"/>
                <a:cs typeface="Helvetica Light"/>
                <a:sym typeface="Helvetica Light"/>
              </a:rPr>
              <a:t>://2ality.com/2013/10/typeof-null.html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 &amp; Type Coercion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2169348" y="3739258"/>
            <a:ext cx="19960614" cy="541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IN" sz="4400" dirty="0"/>
              <a:t>Like other languages ,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, also </a:t>
            </a:r>
            <a:r>
              <a:rPr lang="en-IN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allows</a:t>
            </a:r>
            <a:r>
              <a:rPr lang="en-IN" sz="4400" dirty="0"/>
              <a:t> a </a:t>
            </a:r>
            <a:r>
              <a:rPr lang="en-IN" sz="4400" b="1" dirty="0">
                <a:solidFill>
                  <a:schemeClr val="accent3"/>
                </a:solidFill>
              </a:rPr>
              <a:t>programmer</a:t>
            </a:r>
            <a:r>
              <a:rPr lang="en-IN" sz="4400" dirty="0"/>
              <a:t> to </a:t>
            </a:r>
            <a:r>
              <a:rPr lang="en-IN" sz="4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convert</a:t>
            </a:r>
            <a:r>
              <a:rPr lang="en-IN" sz="4400" dirty="0"/>
              <a:t> a </a:t>
            </a: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</a:t>
            </a:r>
            <a:r>
              <a:rPr lang="en-IN" sz="4400" dirty="0"/>
              <a:t>/</a:t>
            </a: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value</a:t>
            </a:r>
            <a:r>
              <a:rPr lang="en-IN" sz="4400" dirty="0"/>
              <a:t> from </a:t>
            </a:r>
            <a:r>
              <a:rPr lang="en-IN" sz="4400" b="1" dirty="0">
                <a:solidFill>
                  <a:srgbClr val="FFFF00"/>
                </a:solidFill>
              </a:rPr>
              <a:t>one type </a:t>
            </a:r>
            <a:r>
              <a:rPr lang="en-IN" sz="4400" dirty="0"/>
              <a:t>to </a:t>
            </a:r>
            <a:r>
              <a:rPr lang="en-IN" sz="4400" b="1" dirty="0">
                <a:solidFill>
                  <a:srgbClr val="92D050"/>
                </a:solidFill>
              </a:rPr>
              <a:t>another</a:t>
            </a:r>
            <a:r>
              <a:rPr lang="en-IN" sz="4400" dirty="0"/>
              <a:t>.</a:t>
            </a:r>
          </a:p>
          <a:p>
            <a:pPr algn="l"/>
            <a:endParaRPr lang="en-IN" sz="4400" dirty="0"/>
          </a:p>
          <a:p>
            <a:pPr algn="l"/>
            <a:r>
              <a:rPr lang="en-IN" sz="4400" dirty="0"/>
              <a:t>This is called </a:t>
            </a:r>
            <a:r>
              <a:rPr lang="en-IN" sz="4400" b="1" u="sng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Type Conversion</a:t>
            </a:r>
            <a:r>
              <a:rPr lang="en-IN" sz="4400" dirty="0"/>
              <a:t>.</a:t>
            </a:r>
          </a:p>
          <a:p>
            <a:pPr algn="l"/>
            <a:endParaRPr lang="en-IN" sz="4400" dirty="0"/>
          </a:p>
          <a:p>
            <a:pPr algn="l"/>
            <a:endParaRPr lang="en-IN" sz="4400" dirty="0"/>
          </a:p>
          <a:p>
            <a:pPr algn="l"/>
            <a:r>
              <a:rPr lang="en-IN" sz="4400" dirty="0"/>
              <a:t>On the </a:t>
            </a:r>
            <a:r>
              <a:rPr lang="en-IN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other hand </a:t>
            </a:r>
            <a:r>
              <a:rPr lang="en-IN" sz="4400" dirty="0"/>
              <a:t>if this </a:t>
            </a:r>
            <a:r>
              <a:rPr lang="en-IN" sz="4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conversion</a:t>
            </a:r>
            <a:r>
              <a:rPr lang="en-IN" sz="4400" dirty="0"/>
              <a:t> is done by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 itself , then we call it as  </a:t>
            </a:r>
          </a:p>
          <a:p>
            <a:pPr algn="l"/>
            <a:r>
              <a:rPr lang="en-IN" sz="4400" b="1" u="sng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Type  Coercion</a:t>
            </a:r>
            <a:endParaRPr sz="4400" b="1" u="sng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Converting Values To String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278394" y="2649415"/>
            <a:ext cx="19960614" cy="4001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IN" sz="4400" dirty="0"/>
              <a:t>To </a:t>
            </a:r>
            <a:r>
              <a:rPr lang="en-IN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</a:t>
            </a:r>
            <a:r>
              <a:rPr lang="en-IN" sz="4400" dirty="0"/>
              <a:t> a </a:t>
            </a:r>
            <a:r>
              <a:rPr lang="en-IN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</a:t>
            </a:r>
            <a:r>
              <a:rPr lang="en-IN" sz="4400" dirty="0"/>
              <a:t> to a string ,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 provides </a:t>
            </a: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 ways</a:t>
            </a:r>
            <a:r>
              <a:rPr lang="en-IN" sz="4400" dirty="0"/>
              <a:t>:</a:t>
            </a:r>
          </a:p>
          <a:p>
            <a:pPr algn="l"/>
            <a:endParaRPr lang="en-US" sz="4400" dirty="0"/>
          </a:p>
          <a:p>
            <a:pPr algn="l"/>
            <a:r>
              <a:rPr lang="en-US" sz="4400" dirty="0"/>
              <a:t>	</a:t>
            </a:r>
            <a:r>
              <a:rPr lang="en-US" sz="4000" dirty="0"/>
              <a:t>1. Using the 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function </a:t>
            </a:r>
            <a:r>
              <a:rPr lang="en-US" sz="4000" dirty="0"/>
              <a:t>called </a:t>
            </a:r>
            <a:r>
              <a:rPr lang="en-US" sz="4000" b="1" dirty="0">
                <a:solidFill>
                  <a:srgbClr val="FFFF00"/>
                </a:solidFill>
              </a:rPr>
              <a:t>String( )</a:t>
            </a:r>
          </a:p>
          <a:p>
            <a:pPr algn="l"/>
            <a:r>
              <a:rPr lang="en-US" sz="4000" dirty="0"/>
              <a:t>    2. Using the method </a:t>
            </a:r>
            <a:r>
              <a:rPr lang="en-US" sz="4000" b="1" dirty="0" err="1">
                <a:solidFill>
                  <a:srgbClr val="FFFF00"/>
                </a:solidFill>
              </a:rPr>
              <a:t>toString</a:t>
            </a:r>
            <a:r>
              <a:rPr lang="en-US" sz="4000" b="1" dirty="0">
                <a:solidFill>
                  <a:srgbClr val="FFFF00"/>
                </a:solidFill>
              </a:rPr>
              <a:t>( ) </a:t>
            </a:r>
            <a:r>
              <a:rPr lang="en-US" sz="4000" dirty="0"/>
              <a:t>on the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</a:t>
            </a:r>
            <a:r>
              <a:rPr lang="en-US" sz="4000" dirty="0"/>
              <a:t> to be </a:t>
            </a:r>
            <a: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converted</a:t>
            </a:r>
            <a:endParaRPr lang="en-IN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algn="l"/>
            <a:endParaRPr lang="en-IN" sz="4400" dirty="0"/>
          </a:p>
          <a:p>
            <a:pPr algn="l"/>
            <a:endParaRPr lang="en-IN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706844" y="6200075"/>
            <a:ext cx="9306951" cy="6022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54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String( )</a:t>
            </a:r>
          </a:p>
          <a:p>
            <a:pPr marL="0" indent="0" algn="l">
              <a:buNone/>
            </a:pPr>
            <a:endParaRPr lang="en-US" sz="5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IN" sz="4400" b="1" dirty="0">
                <a:solidFill>
                  <a:srgbClr val="FFFF00"/>
                </a:solidFill>
              </a:rPr>
              <a:t>String (</a:t>
            </a:r>
            <a:r>
              <a:rPr lang="en-IN" sz="4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 to be converted</a:t>
            </a:r>
            <a:r>
              <a:rPr lang="en-IN" sz="4400" b="1" dirty="0">
                <a:solidFill>
                  <a:srgbClr val="FFFF00"/>
                </a:solidFill>
              </a:rPr>
              <a:t>)</a:t>
            </a:r>
          </a:p>
          <a:p>
            <a:pPr marL="0" indent="0" algn="l">
              <a:buNone/>
            </a:pPr>
            <a:endParaRPr lang="en-US" sz="4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endParaRPr lang="en-US" sz="4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US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5400" b="1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toString</a:t>
            </a:r>
            <a:r>
              <a:rPr lang="en-US" sz="54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)</a:t>
            </a:r>
          </a:p>
          <a:p>
            <a:pPr marL="0" indent="0" algn="l">
              <a:buNone/>
            </a:pPr>
            <a:endParaRPr lang="en-IN" sz="4400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IN" sz="4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value</a:t>
            </a:r>
            <a:r>
              <a:rPr lang="en-IN" sz="4400" b="1" dirty="0" err="1">
                <a:solidFill>
                  <a:srgbClr val="FFFF00"/>
                </a:solidFill>
              </a:rPr>
              <a:t>.toString</a:t>
            </a:r>
            <a:r>
              <a:rPr lang="en-IN" sz="4400" b="1" dirty="0">
                <a:solidFill>
                  <a:srgbClr val="FFFF00"/>
                </a:solidFill>
              </a:rPr>
              <a:t>( )</a:t>
            </a:r>
            <a:endParaRPr lang="en-IN" sz="44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6844" y="6200075"/>
            <a:ext cx="12556273" cy="7069873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String Conversion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107010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String(10)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//"10" </a:t>
            </a:r>
          </a:p>
          <a:p>
            <a:pPr algn="l"/>
            <a:endParaRPr lang="en-IN" sz="3400" dirty="0"/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(10).</a:t>
            </a:r>
            <a:r>
              <a:rPr lang="en-IN" sz="3400" b="1" dirty="0" err="1">
                <a:solidFill>
                  <a:srgbClr val="FFFF00"/>
                </a:solidFill>
              </a:rPr>
              <a:t>toString</a:t>
            </a:r>
            <a:r>
              <a:rPr lang="en-IN" sz="3400" b="1" dirty="0">
                <a:solidFill>
                  <a:srgbClr val="FFFF00"/>
                </a:solidFill>
              </a:rPr>
              <a:t>()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//"10"</a:t>
            </a:r>
            <a:endParaRPr lang="en-US" sz="3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da-DK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String(true) 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//"true" </a:t>
            </a:r>
          </a:p>
          <a:p>
            <a:pPr algn="l"/>
            <a:endParaRPr lang="da-DK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true.toString()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//"true" </a:t>
            </a:r>
          </a:p>
          <a:p>
            <a:pPr algn="l"/>
            <a:endParaRPr lang="da-DK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String(false) 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//"false" </a:t>
            </a:r>
          </a:p>
          <a:p>
            <a:pPr algn="l"/>
            <a:endParaRPr lang="da-DK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false.toString() 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//"false”</a:t>
            </a:r>
            <a:endParaRPr kumimoji="0" lang="en-IN" sz="3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8946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String(null)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//"null" </a:t>
            </a:r>
          </a:p>
          <a:p>
            <a:pPr algn="l"/>
            <a:endParaRPr lang="en-IN" sz="3400" dirty="0"/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String(undefined)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//"undefined“</a:t>
            </a:r>
          </a:p>
          <a:p>
            <a:pPr algn="l"/>
            <a:endParaRPr lang="en-IN" sz="3400" b="1" dirty="0">
              <a:solidFill>
                <a:srgbClr val="FFFF00"/>
              </a:solidFill>
            </a:endParaRPr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 String(</a:t>
            </a:r>
            <a:r>
              <a:rPr lang="en-IN" sz="3400" b="1" dirty="0" err="1">
                <a:solidFill>
                  <a:srgbClr val="FFFF00"/>
                </a:solidFill>
              </a:rPr>
              <a:t>NaN</a:t>
            </a:r>
            <a:r>
              <a:rPr lang="en-IN" sz="3400" b="1" dirty="0">
                <a:solidFill>
                  <a:srgbClr val="FFFF00"/>
                </a:solidFill>
              </a:rPr>
              <a:t>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</a:t>
            </a:r>
            <a:r>
              <a:rPr lang="en-IN" sz="34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”</a:t>
            </a:r>
          </a:p>
          <a:p>
            <a:pPr algn="l"/>
            <a:endParaRPr lang="en-US" sz="34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400" b="1" dirty="0" err="1">
                <a:solidFill>
                  <a:srgbClr val="FFFF00"/>
                </a:solidFill>
              </a:rPr>
              <a:t>NaN.toString</a:t>
            </a:r>
            <a:r>
              <a:rPr lang="en-IN" sz="3400" b="1" dirty="0">
                <a:solidFill>
                  <a:srgbClr val="FFFF00"/>
                </a:solidFill>
              </a:rPr>
              <a:t>()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</a:t>
            </a:r>
            <a:r>
              <a:rPr lang="en-IN" sz="34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”</a:t>
            </a:r>
            <a:endParaRPr lang="en-IN" sz="3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17889839" y="3845169"/>
            <a:ext cx="6066263" cy="4357675"/>
          </a:xfrm>
          <a:prstGeom prst="wedgeEllipseCallout">
            <a:avLst>
              <a:gd name="adj1" fmla="val -70692"/>
              <a:gd name="adj2" fmla="val 16081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Remember , that the method </a:t>
            </a:r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toString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()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doesn’t work with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null 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and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undefined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types . Although it works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with </a:t>
            </a:r>
            <a:r>
              <a:rPr kumimoji="0" lang="en-US" sz="3200" b="1" i="0" u="none" strike="noStrike" cap="none" spc="0" normalizeH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NaN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Converting Values To Number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278394" y="2649415"/>
            <a:ext cx="19960614" cy="4616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IN" sz="4400" dirty="0"/>
              <a:t>To convert a value to a number ,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 provides </a:t>
            </a: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ways</a:t>
            </a:r>
            <a:r>
              <a:rPr lang="en-IN" sz="4400" dirty="0"/>
              <a:t>:</a:t>
            </a:r>
          </a:p>
          <a:p>
            <a:pPr algn="l"/>
            <a:endParaRPr lang="en-US" sz="4400" dirty="0"/>
          </a:p>
          <a:p>
            <a:pPr algn="l"/>
            <a:r>
              <a:rPr lang="en-US" sz="4000" dirty="0"/>
              <a:t>1. Using the global function called </a:t>
            </a:r>
            <a:r>
              <a:rPr lang="en-US" sz="4000" b="1" dirty="0">
                <a:solidFill>
                  <a:srgbClr val="FFFF00"/>
                </a:solidFill>
              </a:rPr>
              <a:t>Number( )</a:t>
            </a:r>
          </a:p>
          <a:p>
            <a:pPr algn="l"/>
            <a:r>
              <a:rPr lang="en-US" sz="4000" dirty="0"/>
              <a:t>2. Using the function </a:t>
            </a:r>
            <a:r>
              <a:rPr lang="en-US" sz="4000" b="1" dirty="0" err="1">
                <a:solidFill>
                  <a:srgbClr val="FFFF00"/>
                </a:solidFill>
              </a:rPr>
              <a:t>parseInt</a:t>
            </a:r>
            <a:r>
              <a:rPr lang="en-US" sz="4000" b="1" dirty="0">
                <a:solidFill>
                  <a:srgbClr val="FFFF00"/>
                </a:solidFill>
              </a:rPr>
              <a:t>( ) </a:t>
            </a:r>
            <a:r>
              <a:rPr lang="en-US" sz="4000" dirty="0"/>
              <a:t>or </a:t>
            </a:r>
            <a:r>
              <a:rPr lang="en-US" sz="4000" b="1" dirty="0" err="1">
                <a:solidFill>
                  <a:srgbClr val="FFFF00"/>
                </a:solidFill>
              </a:rPr>
              <a:t>parseFloat</a:t>
            </a:r>
            <a:r>
              <a:rPr lang="en-US" sz="4000" b="1" dirty="0">
                <a:solidFill>
                  <a:srgbClr val="FFFF00"/>
                </a:solidFill>
              </a:rPr>
              <a:t>( )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</a:rPr>
              <a:t>3. Using the method </a:t>
            </a:r>
            <a:r>
              <a:rPr lang="en-US" sz="4000" b="1" dirty="0" err="1">
                <a:solidFill>
                  <a:srgbClr val="FFFF00"/>
                </a:solidFill>
              </a:rPr>
              <a:t>Math.floor</a:t>
            </a:r>
            <a:r>
              <a:rPr lang="en-US" sz="4000" b="1" dirty="0">
                <a:solidFill>
                  <a:srgbClr val="FFFF00"/>
                </a:solidFill>
              </a:rPr>
              <a:t>( )</a:t>
            </a:r>
            <a:endParaRPr lang="en-IN" sz="4000" b="1" dirty="0">
              <a:solidFill>
                <a:srgbClr val="FFFF00"/>
              </a:solidFill>
            </a:endParaRPr>
          </a:p>
          <a:p>
            <a:pPr algn="l"/>
            <a:endParaRPr lang="en-IN" sz="4400" dirty="0"/>
          </a:p>
          <a:p>
            <a:pPr algn="l"/>
            <a:endParaRPr lang="en-IN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706844" y="6200075"/>
            <a:ext cx="9306951" cy="6792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40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4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Number( )</a:t>
            </a:r>
          </a:p>
          <a:p>
            <a:pPr marL="0" indent="0" algn="l">
              <a:buNone/>
            </a:pPr>
            <a:r>
              <a:rPr lang="en-IN" b="1" dirty="0">
                <a:solidFill>
                  <a:srgbClr val="FFFF00"/>
                </a:solidFill>
              </a:rPr>
              <a:t>Number (</a:t>
            </a:r>
            <a:r>
              <a:rPr lang="en-IN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 to be converted</a:t>
            </a:r>
            <a:r>
              <a:rPr lang="en-IN" b="1" dirty="0">
                <a:solidFill>
                  <a:srgbClr val="FFFF00"/>
                </a:solidFill>
              </a:rPr>
              <a:t>)</a:t>
            </a:r>
          </a:p>
          <a:p>
            <a:pPr marL="0" indent="0" algn="l">
              <a:buNone/>
            </a:pPr>
            <a:endParaRPr lang="en-US" sz="4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US" sz="40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4000" b="1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parseInt</a:t>
            </a:r>
            <a:r>
              <a:rPr lang="en-US" sz="4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)</a:t>
            </a:r>
          </a:p>
          <a:p>
            <a:pPr marL="0" indent="0" algn="l">
              <a:buNone/>
            </a:pPr>
            <a:r>
              <a:rPr lang="en-IN" b="1" dirty="0" err="1">
                <a:solidFill>
                  <a:srgbClr val="FFFF00"/>
                </a:solidFill>
              </a:rPr>
              <a:t>parseInt</a:t>
            </a:r>
            <a:r>
              <a:rPr lang="en-IN" b="1" dirty="0">
                <a:solidFill>
                  <a:srgbClr val="FFFF00"/>
                </a:solidFill>
              </a:rPr>
              <a:t> (</a:t>
            </a:r>
            <a:r>
              <a:rPr lang="en-IN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 to be converted</a:t>
            </a:r>
            <a:r>
              <a:rPr lang="en-IN" b="1" dirty="0">
                <a:solidFill>
                  <a:srgbClr val="FFFF00"/>
                </a:solidFill>
              </a:rPr>
              <a:t>)</a:t>
            </a:r>
          </a:p>
          <a:p>
            <a:pPr marL="0" indent="0" algn="l">
              <a:buNone/>
            </a:pPr>
            <a:endParaRPr lang="en-US" sz="4400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40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4000" b="1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parseFloat</a:t>
            </a:r>
            <a:r>
              <a:rPr lang="en-US" sz="4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)</a:t>
            </a:r>
          </a:p>
          <a:p>
            <a:pPr marL="0" indent="0" algn="l">
              <a:buNone/>
            </a:pPr>
            <a:r>
              <a:rPr lang="en-IN" b="1" dirty="0" err="1">
                <a:solidFill>
                  <a:srgbClr val="FFFF00"/>
                </a:solidFill>
              </a:rPr>
              <a:t>parseFloat</a:t>
            </a:r>
            <a:r>
              <a:rPr lang="en-IN" b="1" dirty="0">
                <a:solidFill>
                  <a:srgbClr val="FFFF00"/>
                </a:solidFill>
              </a:rPr>
              <a:t> (</a:t>
            </a:r>
            <a:r>
              <a:rPr lang="en-IN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 to be converted</a:t>
            </a:r>
            <a:r>
              <a:rPr lang="en-IN" b="1" dirty="0">
                <a:solidFill>
                  <a:srgbClr val="FFFF00"/>
                </a:solidFill>
              </a:rPr>
              <a:t>)</a:t>
            </a:r>
          </a:p>
          <a:p>
            <a:pPr marL="0" indent="0" algn="l">
              <a:buNone/>
            </a:pPr>
            <a:endParaRPr lang="en-US" sz="4000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40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4000" b="1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Math.floor</a:t>
            </a:r>
            <a:r>
              <a:rPr lang="en-US" sz="4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)</a:t>
            </a:r>
          </a:p>
          <a:p>
            <a:pPr marL="0" indent="0" algn="l">
              <a:buNone/>
            </a:pPr>
            <a:r>
              <a:rPr lang="en-IN" b="1" dirty="0" err="1">
                <a:solidFill>
                  <a:srgbClr val="FFFF00"/>
                </a:solidFill>
              </a:rPr>
              <a:t>Math.floor</a:t>
            </a:r>
            <a:r>
              <a:rPr lang="en-IN" b="1" dirty="0">
                <a:solidFill>
                  <a:srgbClr val="FFFF00"/>
                </a:solidFill>
              </a:rPr>
              <a:t>(</a:t>
            </a:r>
            <a:r>
              <a:rPr lang="en-IN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 to be converted</a:t>
            </a:r>
            <a:r>
              <a:rPr lang="en-IN" b="1" dirty="0">
                <a:solidFill>
                  <a:srgbClr val="FFFF00"/>
                </a:solidFill>
              </a:rPr>
              <a:t>)</a:t>
            </a:r>
            <a:endParaRPr lang="en-IN" sz="4400" b="1" dirty="0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6844" y="6200075"/>
            <a:ext cx="12556273" cy="7069873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16576855" y="2649415"/>
            <a:ext cx="6066263" cy="5742610"/>
          </a:xfrm>
          <a:prstGeom prst="wedgeEllipseCallout">
            <a:avLst>
              <a:gd name="adj1" fmla="val -108956"/>
              <a:gd name="adj2" fmla="val -7848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Remember , that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parseInt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(),</a:t>
            </a:r>
            <a:r>
              <a:rPr kumimoji="0" lang="en-US" sz="3200" b="1" i="0" u="none" strike="noStrike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parseFloat</a:t>
            </a:r>
            <a:r>
              <a:rPr kumimoji="0" lang="en-US" sz="3200" b="1" i="0" u="none" strike="noStrike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() 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can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only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be used to convert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String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values to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number and not for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boolean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values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Number Conversion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9192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Number("1")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//1 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Number("0")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Number(" 1 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Number("")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Number("12.2")</a:t>
            </a:r>
          </a:p>
          <a:p>
            <a:pPr algn="l"/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//12.2</a:t>
            </a:r>
          </a:p>
          <a:p>
            <a:pPr algn="l"/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10577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Number("1A2")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US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Number(true)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 Number(false)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US" sz="32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Number(null)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Number(undefined)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54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32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54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5034061" y="4821182"/>
            <a:ext cx="6066263" cy="2972740"/>
          </a:xfrm>
          <a:prstGeom prst="wedgeEllipseCallout">
            <a:avLst>
              <a:gd name="adj1" fmla="val -71852"/>
              <a:gd name="adj2" fmla="val 49995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Remember , strings </a:t>
            </a:r>
          </a:p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are trimmed before </a:t>
            </a:r>
          </a:p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being converted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to </a:t>
            </a:r>
          </a:p>
          <a:p>
            <a:pPr rtl="0" latinLnBrk="1" hangingPunct="0"/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number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17450230" y="4243754"/>
            <a:ext cx="5245648" cy="3665207"/>
          </a:xfrm>
          <a:prstGeom prst="wedgeEllipseCallout">
            <a:avLst>
              <a:gd name="adj1" fmla="val -90516"/>
              <a:gd name="adj2" fmla="val -28971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3200" dirty="0"/>
              <a:t>If a string contains </a:t>
            </a:r>
          </a:p>
          <a:p>
            <a:pPr rtl="0" latinLnBrk="1" hangingPunct="0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invalid characters</a:t>
            </a:r>
            <a:r>
              <a:rPr lang="en-IN" sz="3200" dirty="0"/>
              <a:t>, the function </a:t>
            </a:r>
          </a:p>
          <a:p>
            <a:pPr rtl="0" latinLnBrk="1" hangingPunct="0"/>
            <a:r>
              <a:rPr lang="en-IN" sz="3200" b="1" dirty="0">
                <a:solidFill>
                  <a:srgbClr val="FFFF00"/>
                </a:solidFill>
              </a:rPr>
              <a:t>Number( ) </a:t>
            </a:r>
            <a:r>
              <a:rPr lang="en-IN" sz="3200" dirty="0"/>
              <a:t>will </a:t>
            </a:r>
          </a:p>
          <a:p>
            <a:pPr rtl="0" latinLnBrk="1" hangingPunct="0"/>
            <a:r>
              <a:rPr lang="en-IN" sz="3200" dirty="0"/>
              <a:t>generate a </a:t>
            </a:r>
            <a:r>
              <a:rPr lang="en-IN" sz="3200" b="1" dirty="0" err="1">
                <a:solidFill>
                  <a:srgbClr val="FFFF00"/>
                </a:solidFill>
              </a:rPr>
              <a:t>NaN</a:t>
            </a:r>
            <a:r>
              <a:rPr lang="en-IN" sz="3200" b="1" dirty="0">
                <a:solidFill>
                  <a:srgbClr val="FFFF00"/>
                </a:solidFill>
              </a:rPr>
              <a:t>.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Number Conversion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9192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("1")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//1 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("0")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 1 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("12.2")</a:t>
            </a:r>
          </a:p>
          <a:p>
            <a:pPr algn="l"/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//12</a:t>
            </a:r>
          </a:p>
          <a:p>
            <a:pPr algn="l"/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101777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("1A2")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US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("A12")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US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(true)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(false)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(null)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parseInt</a:t>
            </a:r>
            <a:r>
              <a:rPr lang="en-IN" sz="3200" b="1" dirty="0">
                <a:solidFill>
                  <a:srgbClr val="FFFF00"/>
                </a:solidFill>
              </a:rPr>
              <a:t>(undefined)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4705815" y="4821182"/>
            <a:ext cx="6066263" cy="3665207"/>
          </a:xfrm>
          <a:prstGeom prst="wedgeEllipseCallout">
            <a:avLst>
              <a:gd name="adj1" fmla="val -71852"/>
              <a:gd name="adj2" fmla="val 49995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Remember , that </a:t>
            </a:r>
          </a:p>
          <a:p>
            <a:pPr rtl="0" latinLnBrk="1" hangingPunct="0"/>
            <a:r>
              <a:rPr lang="en-US" sz="3200" dirty="0">
                <a:latin typeface="Helvetica Light"/>
                <a:ea typeface="Helvetica Light"/>
                <a:cs typeface="Helvetica Light"/>
                <a:sym typeface="Helvetica Light"/>
              </a:rPr>
              <a:t>t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he functions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  <a:p>
            <a:pPr rtl="0" latinLnBrk="1" hangingPunct="0"/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parseInt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() 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and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</a:t>
            </a:r>
          </a:p>
          <a:p>
            <a:pPr rtl="0" latinLnBrk="1" hangingPunct="0"/>
            <a:r>
              <a:rPr kumimoji="0" lang="en-US" sz="3200" b="1" i="0" u="none" strike="noStrike" cap="none" spc="0" normalizeH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parseFloat</a:t>
            </a:r>
            <a:r>
              <a:rPr kumimoji="0" lang="en-US" sz="3200" b="1" i="0" u="none" strike="noStrike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() 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return </a:t>
            </a:r>
          </a:p>
          <a:p>
            <a:pPr rtl="0" latinLnBrk="1" hangingPunct="0"/>
            <a:r>
              <a:rPr kumimoji="0" lang="en-US" sz="3200" b="1" i="0" u="none" strike="noStrike" cap="none" spc="0" normalizeH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NaN</a:t>
            </a:r>
            <a:r>
              <a:rPr kumimoji="0" lang="en-US" sz="3200" b="0" i="0" u="none" strike="noStrike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for empty strings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17379891" y="3681046"/>
            <a:ext cx="6066263" cy="6435077"/>
          </a:xfrm>
          <a:prstGeom prst="wedgeEllipseCallout">
            <a:avLst>
              <a:gd name="adj1" fmla="val -62189"/>
              <a:gd name="adj2" fmla="val 3545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3200" dirty="0"/>
              <a:t>If a string contains </a:t>
            </a:r>
          </a:p>
          <a:p>
            <a:pPr rtl="0" latinLnBrk="1" hangingPunct="0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invalid characters</a:t>
            </a:r>
            <a:r>
              <a:rPr lang="en-IN" sz="3200" dirty="0"/>
              <a:t>, </a:t>
            </a:r>
          </a:p>
          <a:p>
            <a:pPr rtl="0" latinLnBrk="1" hangingPunct="0"/>
            <a:r>
              <a:rPr lang="en-IN" sz="3200" dirty="0"/>
              <a:t>these functions </a:t>
            </a:r>
          </a:p>
          <a:p>
            <a:pPr rtl="0" latinLnBrk="1" hangingPunct="0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extract initial digits</a:t>
            </a:r>
            <a:r>
              <a:rPr lang="en-IN" sz="3200" dirty="0"/>
              <a:t> </a:t>
            </a:r>
          </a:p>
          <a:p>
            <a:pPr rtl="0" latinLnBrk="1" hangingPunct="0"/>
            <a:r>
              <a:rPr lang="en-IN" sz="3200" dirty="0"/>
              <a:t>and return it as a </a:t>
            </a:r>
          </a:p>
          <a:p>
            <a:pPr rtl="0" latinLnBrk="1" hangingPunct="0"/>
            <a:r>
              <a:rPr lang="en-IN" sz="3200" dirty="0"/>
              <a:t>number. If no initial </a:t>
            </a:r>
          </a:p>
          <a:p>
            <a:pPr rtl="0" latinLnBrk="1" hangingPunct="0"/>
            <a:r>
              <a:rPr lang="en-IN" sz="3200" dirty="0"/>
              <a:t>digits are present </a:t>
            </a:r>
            <a:r>
              <a:rPr lang="en-IN" sz="3200"/>
              <a:t>or    value </a:t>
            </a:r>
            <a:r>
              <a:rPr lang="en-IN" sz="3200" dirty="0"/>
              <a:t>is </a:t>
            </a:r>
            <a:r>
              <a:rPr lang="en-IN" sz="3200" dirty="0" err="1"/>
              <a:t>boolean</a:t>
            </a:r>
            <a:r>
              <a:rPr lang="en-IN" sz="3200" dirty="0"/>
              <a:t> they </a:t>
            </a:r>
          </a:p>
          <a:p>
            <a:pPr rtl="0" latinLnBrk="1" hangingPunct="0"/>
            <a:r>
              <a:rPr lang="en-IN" sz="3200" dirty="0"/>
              <a:t>return </a:t>
            </a:r>
            <a:r>
              <a:rPr lang="en-IN" sz="3200" b="1" dirty="0" err="1">
                <a:solidFill>
                  <a:srgbClr val="FFFF00"/>
                </a:solidFill>
              </a:rPr>
              <a:t>NaN</a:t>
            </a:r>
            <a:endParaRPr kumimoji="0" lang="en-IN" sz="3200" b="1" i="0" u="none" strike="noStrike" cap="none" spc="0" normalizeH="0" baseline="0" dirty="0">
              <a:ln>
                <a:noFill/>
              </a:ln>
              <a:solidFill>
                <a:srgbClr val="FFFF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Number Conversion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9192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("1")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//1 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 ("0")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(" 1 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("")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("12.2")</a:t>
            </a:r>
          </a:p>
          <a:p>
            <a:pPr algn="l"/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//12.2</a:t>
            </a:r>
          </a:p>
          <a:p>
            <a:pPr algn="l"/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101777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("1A2")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US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("A12")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US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(true)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(false)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(null)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parseFloat</a:t>
            </a:r>
            <a:r>
              <a:rPr lang="en-IN" sz="3200" b="1" dirty="0">
                <a:solidFill>
                  <a:srgbClr val="FFFF00"/>
                </a:solidFill>
              </a:rPr>
              <a:t>(undefined)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Number Conversion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9192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("1")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//1 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("0")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dirty="0"/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(" 1 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("")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("12.2")</a:t>
            </a:r>
          </a:p>
          <a:p>
            <a:pPr algn="l"/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latin typeface="Lato Bold"/>
                <a:ea typeface="Lato Bold"/>
                <a:cs typeface="Lato Bold"/>
                <a:sym typeface="Lato Bold"/>
              </a:rPr>
              <a:t>//12</a:t>
            </a:r>
          </a:p>
          <a:p>
            <a:pPr algn="l"/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91929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("1A2")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US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US" sz="3200" b="1" dirty="0">
              <a:solidFill>
                <a:srgbClr val="FFFF00"/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(true)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(false)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(null)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(undefined) 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kumimoji="0" lang="en-IN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4705815" y="4821182"/>
            <a:ext cx="6066263" cy="4357675"/>
          </a:xfrm>
          <a:prstGeom prst="wedgeEllipseCallout">
            <a:avLst>
              <a:gd name="adj1" fmla="val -71852"/>
              <a:gd name="adj2" fmla="val 49995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Remember , that </a:t>
            </a:r>
          </a:p>
          <a:p>
            <a:pPr rtl="0" latinLnBrk="1" hangingPunct="0"/>
            <a:r>
              <a:rPr lang="en-US" sz="3200" dirty="0">
                <a:latin typeface="Helvetica Light"/>
                <a:ea typeface="Helvetica Light"/>
                <a:cs typeface="Helvetica Light"/>
                <a:sym typeface="Helvetica Light"/>
              </a:rPr>
              <a:t>like </a:t>
            </a:r>
            <a:r>
              <a:rPr lang="en-US" sz="3200" b="1" dirty="0">
                <a:solidFill>
                  <a:srgbClr val="FFFF00"/>
                </a:solidFill>
                <a:latin typeface="Helvetica Light"/>
                <a:ea typeface="Helvetica Light"/>
                <a:cs typeface="Helvetica Light"/>
                <a:sym typeface="Helvetica Light"/>
              </a:rPr>
              <a:t>Number( )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 </a:t>
            </a:r>
          </a:p>
          <a:p>
            <a:pPr rtl="0" latinLnBrk="1" hangingPunct="0"/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function, the method </a:t>
            </a:r>
          </a:p>
          <a:p>
            <a:pPr rtl="0" latinLnBrk="1" hangingPunct="0"/>
            <a:r>
              <a:rPr kumimoji="0" lang="en-US" sz="3200" b="1" i="0" u="none" strike="noStrike" cap="none" spc="0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Math.floor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00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() 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also </a:t>
            </a:r>
          </a:p>
          <a:p>
            <a:pPr rtl="0" latinLnBrk="1" hangingPunct="0"/>
            <a:r>
              <a:rPr kumimoji="0" lang="en-US" sz="32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returns 0 for </a:t>
            </a:r>
          </a:p>
          <a:p>
            <a:pPr rtl="0" latinLnBrk="1" hangingPunct="0"/>
            <a:r>
              <a:rPr kumimoji="0" lang="en-US" sz="32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Light"/>
                <a:ea typeface="Helvetica Light"/>
                <a:cs typeface="Helvetica Light"/>
                <a:sym typeface="Helvetica Light"/>
              </a:rPr>
              <a:t>empty string</a:t>
            </a:r>
            <a:endParaRPr kumimoji="0" lang="en-IN" sz="320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7" name="Oval Callout 6"/>
          <p:cNvSpPr/>
          <p:nvPr/>
        </p:nvSpPr>
        <p:spPr>
          <a:xfrm>
            <a:off x="17379891" y="3681046"/>
            <a:ext cx="6066263" cy="3665207"/>
          </a:xfrm>
          <a:prstGeom prst="wedgeEllipseCallout">
            <a:avLst>
              <a:gd name="adj1" fmla="val -62189"/>
              <a:gd name="adj2" fmla="val 3545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rtl="0" latinLnBrk="1" hangingPunct="0"/>
            <a:r>
              <a:rPr lang="en-IN" sz="3200" dirty="0"/>
              <a:t>If a string contains </a:t>
            </a:r>
          </a:p>
          <a:p>
            <a:pPr rtl="0" latinLnBrk="1" hangingPunct="0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invalid characters</a:t>
            </a:r>
            <a:r>
              <a:rPr lang="en-IN" sz="3200" dirty="0"/>
              <a:t>, </a:t>
            </a:r>
          </a:p>
          <a:p>
            <a:pPr rtl="0" latinLnBrk="1" hangingPunct="0"/>
            <a:r>
              <a:rPr lang="en-IN" sz="3200" dirty="0"/>
              <a:t>the </a:t>
            </a:r>
            <a:r>
              <a:rPr lang="en-IN" sz="3200" dirty="0" err="1"/>
              <a:t>mehod</a:t>
            </a:r>
            <a:r>
              <a:rPr lang="en-IN" sz="3200" dirty="0"/>
              <a:t>  </a:t>
            </a:r>
          </a:p>
          <a:p>
            <a:pPr rtl="0" latinLnBrk="1" hangingPunct="0"/>
            <a:r>
              <a:rPr lang="en-IN" sz="3200" b="1" dirty="0" err="1">
                <a:solidFill>
                  <a:srgbClr val="FFFF00"/>
                </a:solidFill>
              </a:rPr>
              <a:t>Math.floor</a:t>
            </a:r>
            <a:r>
              <a:rPr lang="en-IN" sz="3200" b="1" dirty="0">
                <a:solidFill>
                  <a:srgbClr val="FFFF00"/>
                </a:solidFill>
              </a:rPr>
              <a:t>() </a:t>
            </a:r>
            <a:r>
              <a:rPr lang="en-IN" sz="3200" dirty="0"/>
              <a:t>will </a:t>
            </a:r>
          </a:p>
          <a:p>
            <a:pPr rtl="0" latinLnBrk="1" hangingPunct="0"/>
            <a:r>
              <a:rPr lang="en-IN" sz="3200" dirty="0"/>
              <a:t>generate a </a:t>
            </a:r>
            <a:r>
              <a:rPr lang="en-IN" sz="3200" b="1" dirty="0" err="1">
                <a:solidFill>
                  <a:srgbClr val="FFFF00"/>
                </a:solidFill>
              </a:rPr>
              <a:t>NaN</a:t>
            </a:r>
            <a:r>
              <a:rPr lang="en-IN" sz="3200" b="1" dirty="0">
                <a:solidFill>
                  <a:srgbClr val="FFFF00"/>
                </a:solidFill>
              </a:rPr>
              <a:t>.</a:t>
            </a:r>
            <a:endParaRPr lang="en-IN" sz="3200" b="1" dirty="0">
              <a:solidFill>
                <a:srgbClr val="FFFF00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 Rules Of Number Conversion</a:t>
            </a:r>
            <a:endParaRPr sz="6600" spc="-112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8156" y="3813717"/>
          <a:ext cx="16256000" cy="5189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4000" b="1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Value</a:t>
                      </a:r>
                    </a:p>
                  </a:txBody>
                  <a:tcPr marL="47625" marT="19050" marB="1905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40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Becomes…</a:t>
                      </a:r>
                    </a:p>
                  </a:txBody>
                  <a:tcPr marL="47625" marT="19050" marB="1905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undefined</a:t>
                      </a:r>
                    </a:p>
                  </a:txBody>
                  <a:tcPr marL="47625" marT="19050" marB="19050" anchor="ctr"/>
                </a:tc>
                <a:tc>
                  <a:txBody>
                    <a:bodyPr/>
                    <a:lstStyle/>
                    <a:p>
                      <a:r>
                        <a:rPr lang="en-IN" sz="3600" b="1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NaN</a:t>
                      </a:r>
                      <a:endParaRPr lang="en-IN" sz="3600" b="1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47625" marT="19050" marB="1905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null</a:t>
                      </a:r>
                    </a:p>
                  </a:txBody>
                  <a:tcPr marL="47625" marT="19050" marB="19050" anchor="ctr"/>
                </a:tc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47625" marT="19050" marB="1905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true and false</a:t>
                      </a:r>
                    </a:p>
                  </a:txBody>
                  <a:tcPr marL="47625" marT="19050" marB="19050" anchor="ctr"/>
                </a:tc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1 and 0</a:t>
                      </a:r>
                    </a:p>
                  </a:txBody>
                  <a:tcPr marL="47625" marT="19050" marB="1905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string</a:t>
                      </a:r>
                    </a:p>
                  </a:txBody>
                  <a:tcPr marL="47625" marT="19050" marB="19050" anchor="ctr"/>
                </a:tc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Whitespaces from the start and end are removed. If the remaining string is empty, the result is 0. Otherwise, the number is “read” from the string. An error gives </a:t>
                      </a:r>
                      <a:r>
                        <a:rPr lang="en-IN" sz="3600" b="1" dirty="0" err="1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NaN</a:t>
                      </a:r>
                      <a:r>
                        <a:rPr lang="en-IN" sz="3600" b="1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47625" marT="19050" marB="1905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Converting Values To Boolean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278394" y="2649415"/>
            <a:ext cx="19960614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IN" sz="4400" dirty="0"/>
              <a:t>To convert a value to a number ,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 provides only </a:t>
            </a:r>
            <a:r>
              <a:rPr lang="en-IN" sz="4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 way</a:t>
            </a:r>
            <a:r>
              <a:rPr lang="en-IN" sz="4400" dirty="0"/>
              <a:t>:</a:t>
            </a:r>
          </a:p>
          <a:p>
            <a:pPr algn="l"/>
            <a:endParaRPr lang="en-US" sz="4400" dirty="0"/>
          </a:p>
          <a:p>
            <a:pPr algn="l"/>
            <a:r>
              <a:rPr lang="en-US" sz="4400" dirty="0"/>
              <a:t>	</a:t>
            </a:r>
            <a:r>
              <a:rPr lang="en-US" sz="4000" dirty="0"/>
              <a:t>1. Using the global function called </a:t>
            </a:r>
            <a:r>
              <a:rPr lang="en-US" sz="4000" b="1" dirty="0">
                <a:solidFill>
                  <a:srgbClr val="FFFF00"/>
                </a:solidFill>
              </a:rPr>
              <a:t>Boolean( )</a:t>
            </a:r>
          </a:p>
          <a:p>
            <a:pPr algn="l"/>
            <a:r>
              <a:rPr lang="en-US" sz="4000" dirty="0"/>
              <a:t>    </a:t>
            </a:r>
            <a:endParaRPr lang="en-IN" sz="4400" dirty="0"/>
          </a:p>
          <a:p>
            <a:pPr algn="l"/>
            <a:endParaRPr lang="en-IN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706844" y="6200075"/>
            <a:ext cx="9306951" cy="19909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40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4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Boolean( )</a:t>
            </a:r>
          </a:p>
          <a:p>
            <a:pPr marL="0" indent="0" algn="l">
              <a:buNone/>
            </a:pPr>
            <a:r>
              <a:rPr lang="en-IN" b="1" dirty="0">
                <a:solidFill>
                  <a:srgbClr val="FFFF00"/>
                </a:solidFill>
              </a:rPr>
              <a:t>Boolean(</a:t>
            </a:r>
            <a:r>
              <a:rPr lang="en-IN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value to be converted</a:t>
            </a:r>
            <a:r>
              <a:rPr lang="en-IN" b="1" dirty="0">
                <a:solidFill>
                  <a:srgbClr val="FFFF00"/>
                </a:solidFill>
              </a:rPr>
              <a:t>)</a:t>
            </a:r>
          </a:p>
          <a:p>
            <a:pPr marL="0" indent="0" algn="l">
              <a:buNone/>
            </a:pPr>
            <a:endParaRPr lang="en-US" sz="4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6844" y="6200075"/>
            <a:ext cx="12556273" cy="7069873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15286893" y="2649415"/>
            <a:ext cx="7356226" cy="7820012"/>
          </a:xfrm>
          <a:prstGeom prst="wedgeEllipseCallout">
            <a:avLst>
              <a:gd name="adj1" fmla="val -91233"/>
              <a:gd name="adj2" fmla="val -17367"/>
            </a:avLst>
          </a:prstGeom>
          <a:solidFill>
            <a:schemeClr val="accent4">
              <a:lumMod val="75000"/>
            </a:schemeClr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r>
              <a:rPr lang="en-US" sz="3200" b="1" u="sng" dirty="0"/>
              <a:t>IMPORTANT POINTS:</a:t>
            </a:r>
            <a:endParaRPr lang="en-IN" sz="3200" b="1" u="sng" dirty="0"/>
          </a:p>
          <a:p>
            <a:endParaRPr lang="en-IN" sz="3200" dirty="0"/>
          </a:p>
          <a:p>
            <a:r>
              <a:rPr lang="en-IN" sz="3200" dirty="0"/>
              <a:t>1. Any value can be converted to </a:t>
            </a:r>
            <a:r>
              <a:rPr lang="en-IN" sz="3200" dirty="0" err="1"/>
              <a:t>boolean</a:t>
            </a:r>
            <a:r>
              <a:rPr lang="en-IN" sz="3200" dirty="0"/>
              <a:t> passing it to </a:t>
            </a:r>
            <a:r>
              <a:rPr lang="en-IN" sz="3200" b="1" dirty="0">
                <a:solidFill>
                  <a:srgbClr val="FFFF00"/>
                </a:solidFill>
              </a:rPr>
              <a:t>Boolean()</a:t>
            </a:r>
            <a:r>
              <a:rPr lang="en-IN" sz="3200" dirty="0"/>
              <a:t>.</a:t>
            </a:r>
          </a:p>
          <a:p>
            <a:endParaRPr lang="en-IN" sz="3200" dirty="0"/>
          </a:p>
          <a:p>
            <a:r>
              <a:rPr lang="en-IN" sz="3200" dirty="0"/>
              <a:t>2. All values will resolve to </a:t>
            </a:r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true</a:t>
            </a:r>
            <a:r>
              <a:rPr lang="en-IN" sz="3200" dirty="0"/>
              <a:t> except </a:t>
            </a:r>
          </a:p>
          <a:p>
            <a:r>
              <a:rPr lang="en-IN" sz="3200" b="1" u="sng" dirty="0">
                <a:solidFill>
                  <a:srgbClr val="00B0F0"/>
                </a:solidFill>
              </a:rPr>
              <a:t>FALSY VALUES</a:t>
            </a:r>
            <a:r>
              <a:rPr lang="en-IN" sz="3200" dirty="0"/>
              <a:t>, which are</a:t>
            </a:r>
          </a:p>
          <a:p>
            <a:r>
              <a:rPr lang="en-US" sz="3200" b="1" dirty="0">
                <a:solidFill>
                  <a:srgbClr val="FFFF00"/>
                </a:solidFill>
              </a:rPr>
              <a:t>0</a:t>
            </a:r>
            <a:r>
              <a:rPr lang="en-US" sz="3200" dirty="0"/>
              <a:t>,</a:t>
            </a:r>
            <a:r>
              <a:rPr lang="en-US" sz="3200" b="1" dirty="0">
                <a:solidFill>
                  <a:srgbClr val="FFFF00"/>
                </a:solidFill>
              </a:rPr>
              <a:t>””</a:t>
            </a:r>
            <a:r>
              <a:rPr lang="en-US" sz="3200" dirty="0"/>
              <a:t>,</a:t>
            </a:r>
            <a:r>
              <a:rPr lang="en-US" sz="3200" b="1" dirty="0" err="1">
                <a:solidFill>
                  <a:srgbClr val="FFFF00"/>
                </a:solidFill>
              </a:rPr>
              <a:t>NaN</a:t>
            </a:r>
            <a:r>
              <a:rPr lang="en-US" sz="3200" dirty="0" err="1"/>
              <a:t>,</a:t>
            </a:r>
            <a:r>
              <a:rPr lang="en-US" sz="3200" b="1" dirty="0" err="1">
                <a:solidFill>
                  <a:srgbClr val="FFFF00"/>
                </a:solidFill>
              </a:rPr>
              <a:t>null</a:t>
            </a:r>
            <a:r>
              <a:rPr lang="en-US" sz="3200" dirty="0"/>
              <a:t> and </a:t>
            </a:r>
            <a:r>
              <a:rPr lang="en-US" sz="3200" b="1" dirty="0">
                <a:solidFill>
                  <a:srgbClr val="FFFF00"/>
                </a:solidFill>
              </a:rPr>
              <a:t>undefined</a:t>
            </a:r>
            <a:endParaRPr lang="en-IN" sz="32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Boolean Conversion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7561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Boolean(10)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//true </a:t>
            </a:r>
          </a:p>
          <a:p>
            <a:pPr algn="l"/>
            <a:endParaRPr lang="en-IN" sz="3400" dirty="0"/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Boolean(0)</a:t>
            </a:r>
          </a:p>
          <a:p>
            <a:pPr algn="l"/>
            <a:r>
              <a:rPr lang="en-US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//false</a:t>
            </a:r>
          </a:p>
          <a:p>
            <a:pPr algn="l"/>
            <a:endParaRPr lang="da-DK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Boolean("bhopal")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//true</a:t>
            </a:r>
          </a:p>
          <a:p>
            <a:pPr algn="l"/>
            <a:endParaRPr lang="da-DK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Boolean(false)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8946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Boolean("")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//false</a:t>
            </a:r>
          </a:p>
          <a:p>
            <a:pPr algn="l"/>
            <a:endParaRPr lang="en-IN" sz="3400" dirty="0"/>
          </a:p>
          <a:p>
            <a:pPr algn="l"/>
            <a:r>
              <a:rPr lang="da-DK" sz="3400" b="1" dirty="0">
                <a:solidFill>
                  <a:srgbClr val="FFFF00"/>
                </a:solidFill>
              </a:rPr>
              <a:t>Boolean(" ")</a:t>
            </a:r>
          </a:p>
          <a:p>
            <a:pPr algn="l"/>
            <a:r>
              <a:rPr lang="da-DK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//true</a:t>
            </a:r>
          </a:p>
          <a:p>
            <a:pPr algn="l"/>
            <a:endParaRPr lang="en-IN" sz="3400" b="1" dirty="0">
              <a:solidFill>
                <a:srgbClr val="FFFF00"/>
              </a:solidFill>
            </a:endParaRPr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Boolean(null)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//false</a:t>
            </a:r>
          </a:p>
          <a:p>
            <a:pPr algn="l"/>
            <a:endParaRPr lang="en-IN" sz="3400" dirty="0"/>
          </a:p>
          <a:p>
            <a:pPr algn="l"/>
            <a:r>
              <a:rPr lang="en-IN" sz="3400" b="1" dirty="0">
                <a:solidFill>
                  <a:srgbClr val="FFFF00"/>
                </a:solidFill>
              </a:rPr>
              <a:t>Boolean(undefined) </a:t>
            </a:r>
          </a:p>
          <a:p>
            <a:pPr algn="l"/>
            <a:r>
              <a:rPr lang="en-IN" sz="3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//false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Coercion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810821" y="2966224"/>
            <a:ext cx="20762357" cy="8802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IN" sz="4400" dirty="0"/>
              <a:t>As </a:t>
            </a:r>
            <a:r>
              <a:rPr lang="en-IN" sz="4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discussed previously </a:t>
            </a:r>
            <a:r>
              <a:rPr lang="en-IN" sz="4400" dirty="0"/>
              <a:t>, there are </a:t>
            </a:r>
            <a:r>
              <a:rPr lang="en-IN" sz="4400" b="1" dirty="0">
                <a:solidFill>
                  <a:srgbClr val="00B0F0"/>
                </a:solidFill>
              </a:rPr>
              <a:t>some cases </a:t>
            </a:r>
            <a:r>
              <a:rPr lang="en-IN" sz="4400" dirty="0"/>
              <a:t>in </a:t>
            </a:r>
            <a:r>
              <a:rPr lang="en-IN" sz="4400" b="1" dirty="0">
                <a:solidFill>
                  <a:srgbClr val="FFC000"/>
                </a:solidFill>
              </a:rPr>
              <a:t>JS</a:t>
            </a:r>
            <a:r>
              <a:rPr lang="en-IN" sz="4400" dirty="0"/>
              <a:t> , when it </a:t>
            </a:r>
            <a:r>
              <a:rPr lang="en-IN" sz="4400" b="1" dirty="0">
                <a:solidFill>
                  <a:schemeClr val="accent3"/>
                </a:solidFill>
              </a:rPr>
              <a:t>automatically</a:t>
            </a:r>
            <a:r>
              <a:rPr lang="en-IN" sz="4400" dirty="0"/>
              <a:t> converts value of </a:t>
            </a:r>
            <a:r>
              <a:rPr lang="en-IN" sz="4400" b="1" dirty="0">
                <a:solidFill>
                  <a:srgbClr val="FFC000"/>
                </a:solidFill>
              </a:rPr>
              <a:t>one type </a:t>
            </a:r>
            <a:r>
              <a:rPr lang="en-IN" sz="4400" dirty="0"/>
              <a:t>to </a:t>
            </a:r>
            <a:r>
              <a:rPr lang="en-IN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</a:t>
            </a:r>
            <a:r>
              <a:rPr lang="en-IN" sz="4400" dirty="0"/>
              <a:t> and this is called </a:t>
            </a:r>
            <a:r>
              <a:rPr lang="en-IN" sz="4400" b="1" u="sng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Type Coercion</a:t>
            </a:r>
          </a:p>
          <a:p>
            <a:pPr algn="l"/>
            <a:endParaRPr lang="en-IN" sz="4400" dirty="0"/>
          </a:p>
          <a:p>
            <a:pPr algn="l"/>
            <a:endParaRPr lang="en-IN" sz="4400" dirty="0"/>
          </a:p>
          <a:p>
            <a:pPr algn="l"/>
            <a:endParaRPr lang="en-IN" sz="4400" b="1" dirty="0"/>
          </a:p>
          <a:p>
            <a:pPr algn="l"/>
            <a:r>
              <a:rPr lang="en-IN" sz="4400" b="1" u="sng" dirty="0">
                <a:solidFill>
                  <a:srgbClr val="00B0F0"/>
                </a:solidFill>
              </a:rPr>
              <a:t>The Behaviour Of Operator “+”:</a:t>
            </a:r>
          </a:p>
          <a:p>
            <a:pPr algn="l"/>
            <a:endParaRPr lang="en-US" sz="4400" b="1" dirty="0"/>
          </a:p>
          <a:p>
            <a:pPr algn="l"/>
            <a:r>
              <a:rPr lang="en-US" sz="4000" dirty="0"/>
              <a:t>If </a:t>
            </a: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</a:t>
            </a:r>
            <a:r>
              <a:rPr lang="en-US" sz="4000" dirty="0"/>
              <a:t> of the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operands</a:t>
            </a:r>
            <a:r>
              <a:rPr lang="en-US" sz="4000" dirty="0"/>
              <a:t> is a </a:t>
            </a:r>
            <a:r>
              <a:rPr lang="en-US" sz="4000" b="1" dirty="0">
                <a:solidFill>
                  <a:srgbClr val="FFFF00"/>
                </a:solidFill>
              </a:rPr>
              <a:t>string</a:t>
            </a:r>
            <a:r>
              <a:rPr lang="en-US" sz="4000" dirty="0"/>
              <a:t> , all others are </a:t>
            </a:r>
            <a:r>
              <a:rPr lang="en-US" sz="4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converted to </a:t>
            </a:r>
            <a:r>
              <a:rPr lang="en-US" sz="4000" b="1" dirty="0">
                <a:solidFill>
                  <a:srgbClr val="FFFF00"/>
                </a:solidFill>
              </a:rPr>
              <a:t>string</a:t>
            </a:r>
            <a:r>
              <a:rPr lang="en-US" sz="4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4000" dirty="0"/>
              <a:t>and </a:t>
            </a:r>
            <a:r>
              <a:rPr lang="en-US" sz="4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concatenation</a:t>
            </a:r>
            <a:r>
              <a:rPr lang="en-US" sz="4000" dirty="0"/>
              <a:t> is done ,otherwise </a:t>
            </a:r>
            <a:r>
              <a:rPr lang="en-US" sz="4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arithmetic addition </a:t>
            </a:r>
            <a:r>
              <a:rPr lang="en-US" sz="4000" dirty="0"/>
              <a:t>is done.</a:t>
            </a:r>
          </a:p>
          <a:p>
            <a:pPr algn="l"/>
            <a:endParaRPr lang="en-US" sz="4400" b="1" dirty="0"/>
          </a:p>
          <a:p>
            <a:pPr algn="l"/>
            <a:endParaRPr lang="en-IN" sz="4400" b="1" dirty="0"/>
          </a:p>
          <a:p>
            <a:pPr algn="l"/>
            <a:endParaRPr lang="en-IN" sz="4400" b="1" dirty="0"/>
          </a:p>
          <a:p>
            <a:pPr algn="l"/>
            <a:endParaRPr sz="44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Type Coercion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82080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sz="3200" b="1" dirty="0">
                <a:solidFill>
                  <a:srgbClr val="FFFF00"/>
                </a:solidFill>
              </a:rPr>
              <a:t>10+20</a:t>
            </a:r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//30</a:t>
            </a:r>
          </a:p>
          <a:p>
            <a:pPr algn="l"/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" G</a:t>
            </a:r>
            <a:r>
              <a:rPr lang="en-US" sz="3200" b="1" dirty="0" err="1">
                <a:solidFill>
                  <a:srgbClr val="FFFF00"/>
                </a:solidFill>
              </a:rPr>
              <a:t>ood</a:t>
            </a:r>
            <a:r>
              <a:rPr lang="en-IN" sz="3200" b="1" dirty="0">
                <a:solidFill>
                  <a:srgbClr val="FFFF00"/>
                </a:solidFill>
              </a:rPr>
              <a:t> " </a:t>
            </a:r>
            <a:r>
              <a:rPr lang="en-US" sz="3200" b="1" dirty="0">
                <a:solidFill>
                  <a:srgbClr val="FFFF00"/>
                </a:solidFill>
              </a:rPr>
              <a:t>+</a:t>
            </a:r>
            <a:r>
              <a:rPr lang="en-IN" sz="3200" b="1" dirty="0">
                <a:solidFill>
                  <a:srgbClr val="FFFF00"/>
                </a:solidFill>
              </a:rPr>
              <a:t> " </a:t>
            </a:r>
            <a:r>
              <a:rPr lang="en-US" sz="3200" b="1" dirty="0">
                <a:solidFill>
                  <a:srgbClr val="FFFF00"/>
                </a:solidFill>
              </a:rPr>
              <a:t>Morning</a:t>
            </a:r>
            <a:r>
              <a:rPr lang="en-IN" sz="3200" b="1" dirty="0">
                <a:solidFill>
                  <a:srgbClr val="FFFF00"/>
                </a:solidFill>
              </a:rPr>
              <a:t> "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 "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GoodMorning</a:t>
            </a:r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</a:t>
            </a:r>
          </a:p>
          <a:p>
            <a:pPr algn="l"/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"42"+0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//"420"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  <a:p>
            <a:pPr algn="l"/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811568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true+false</a:t>
            </a:r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//1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true+true</a:t>
            </a:r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//2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true+true</a:t>
            </a:r>
            <a:r>
              <a:rPr lang="en-IN" sz="3200" b="1" dirty="0">
                <a:solidFill>
                  <a:srgbClr val="FFFF00"/>
                </a:solidFill>
              </a:rPr>
              <a:t>+""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//”2"</a:t>
            </a:r>
          </a:p>
          <a:p>
            <a:pPr algn="l"/>
            <a:endParaRPr lang="en-IN" sz="32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54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Coercion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278394" y="2907323"/>
            <a:ext cx="19960614" cy="9664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endParaRPr lang="en-IN" sz="4400" b="1" dirty="0"/>
          </a:p>
          <a:p>
            <a:pPr algn="l"/>
            <a:r>
              <a:rPr lang="en-IN" sz="4400" b="1" u="sng" dirty="0">
                <a:solidFill>
                  <a:srgbClr val="00B0F0"/>
                </a:solidFill>
              </a:rPr>
              <a:t>The Behaviour Of Other Arithmetic Operators:</a:t>
            </a:r>
          </a:p>
          <a:p>
            <a:pPr algn="l"/>
            <a:endParaRPr lang="en-US" sz="4400" b="1" dirty="0"/>
          </a:p>
          <a:p>
            <a:pPr algn="l"/>
            <a:endParaRPr lang="en-US" sz="4000" dirty="0"/>
          </a:p>
          <a:p>
            <a:pPr algn="l"/>
            <a:endParaRPr lang="en-US" sz="4000" dirty="0"/>
          </a:p>
          <a:p>
            <a:pPr algn="l"/>
            <a:endParaRPr lang="en-US" sz="4000" dirty="0"/>
          </a:p>
          <a:p>
            <a:pPr algn="l"/>
            <a:r>
              <a:rPr lang="en-US" sz="4000" dirty="0"/>
              <a:t>All </a:t>
            </a:r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other arithmetic operators </a:t>
            </a:r>
            <a:r>
              <a:rPr lang="en-US" sz="4000" dirty="0"/>
              <a:t>will </a:t>
            </a:r>
            <a:r>
              <a:rPr 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try to convert </a:t>
            </a:r>
            <a:r>
              <a:rPr lang="en-US" sz="4000" dirty="0"/>
              <a:t>their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operands</a:t>
            </a:r>
            <a:r>
              <a:rPr lang="en-US" sz="4000" dirty="0"/>
              <a:t> to </a:t>
            </a:r>
            <a:r>
              <a:rPr lang="en-US" sz="4000" b="1" dirty="0">
                <a:solidFill>
                  <a:schemeClr val="accent3"/>
                </a:solidFill>
              </a:rPr>
              <a:t>number</a:t>
            </a:r>
            <a:r>
              <a:rPr lang="en-US" sz="4000" dirty="0"/>
              <a:t> and then apply the </a:t>
            </a:r>
            <a:r>
              <a:rPr lang="en-US" sz="4000" b="1" dirty="0">
                <a:solidFill>
                  <a:schemeClr val="accent4"/>
                </a:solidFill>
              </a:rPr>
              <a:t>operation</a:t>
            </a:r>
            <a:r>
              <a:rPr lang="en-US" sz="4000" dirty="0"/>
              <a:t> .</a:t>
            </a:r>
          </a:p>
          <a:p>
            <a:pPr algn="l"/>
            <a:endParaRPr lang="en-US" sz="4000" dirty="0"/>
          </a:p>
          <a:p>
            <a:pPr algn="l"/>
            <a:r>
              <a:rPr lang="en-US" sz="4000" dirty="0"/>
              <a:t>If </a:t>
            </a:r>
            <a: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conversion fails </a:t>
            </a:r>
            <a:r>
              <a:rPr lang="en-US" sz="4000" dirty="0"/>
              <a:t>they give </a:t>
            </a:r>
            <a:r>
              <a:rPr lang="en-US" sz="4000" b="1" dirty="0" err="1">
                <a:solidFill>
                  <a:srgbClr val="FFFF00"/>
                </a:solidFill>
              </a:rPr>
              <a:t>NaN</a:t>
            </a:r>
            <a:r>
              <a:rPr lang="en-US" sz="4000" dirty="0"/>
              <a:t>.</a:t>
            </a:r>
          </a:p>
          <a:p>
            <a:pPr algn="l"/>
            <a:endParaRPr lang="en-US" sz="4000" dirty="0"/>
          </a:p>
          <a:p>
            <a:pPr algn="l"/>
            <a:endParaRPr lang="en-US" sz="4400" b="1" dirty="0"/>
          </a:p>
          <a:p>
            <a:pPr algn="l"/>
            <a:endParaRPr lang="en-IN" sz="4400" b="1" dirty="0"/>
          </a:p>
          <a:p>
            <a:pPr algn="l"/>
            <a:endParaRPr lang="en-IN" sz="4400" b="1" dirty="0"/>
          </a:p>
          <a:p>
            <a:pPr algn="l"/>
            <a:endParaRPr sz="44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 Of Type Coercion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536" y="2653990"/>
            <a:ext cx="10437542" cy="106702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sz="3200" b="1" dirty="0">
                <a:solidFill>
                  <a:srgbClr val="FFFF00"/>
                </a:solidFill>
              </a:rPr>
              <a:t>10*20</a:t>
            </a:r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//200</a:t>
            </a:r>
          </a:p>
          <a:p>
            <a:pPr algn="l"/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" G</a:t>
            </a:r>
            <a:r>
              <a:rPr lang="en-US" sz="3200" b="1" dirty="0" err="1">
                <a:solidFill>
                  <a:srgbClr val="FFFF00"/>
                </a:solidFill>
              </a:rPr>
              <a:t>ood</a:t>
            </a:r>
            <a:r>
              <a:rPr lang="en-IN" sz="3200" b="1" dirty="0">
                <a:solidFill>
                  <a:srgbClr val="FFFF00"/>
                </a:solidFill>
              </a:rPr>
              <a:t> " </a:t>
            </a:r>
            <a:r>
              <a:rPr lang="en-US" sz="3200" b="1" dirty="0">
                <a:solidFill>
                  <a:srgbClr val="FFFF00"/>
                </a:solidFill>
              </a:rPr>
              <a:t>*</a:t>
            </a:r>
            <a:r>
              <a:rPr lang="en-IN" sz="3200" b="1" dirty="0">
                <a:solidFill>
                  <a:srgbClr val="FFFF00"/>
                </a:solidFill>
              </a:rPr>
              <a:t> " </a:t>
            </a:r>
            <a:r>
              <a:rPr lang="en-US" sz="3200" b="1" dirty="0">
                <a:solidFill>
                  <a:srgbClr val="FFFF00"/>
                </a:solidFill>
              </a:rPr>
              <a:t>Morning</a:t>
            </a:r>
            <a:r>
              <a:rPr lang="en-IN" sz="3200" b="1" dirty="0">
                <a:solidFill>
                  <a:srgbClr val="FFFF00"/>
                </a:solidFill>
              </a:rPr>
              <a:t> "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// </a:t>
            </a:r>
            <a:r>
              <a:rPr lang="en-IN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dirty="0"/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"42" * 7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//294</a:t>
            </a:r>
          </a:p>
          <a:p>
            <a:pPr algn="l"/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"42" - 7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//35</a:t>
            </a:r>
          </a:p>
          <a:p>
            <a:pPr algn="l"/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  <a:p>
            <a:pPr algn="l"/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606819" y="2653990"/>
            <a:ext cx="10437542" cy="105778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algn="l"/>
            <a:r>
              <a:rPr lang="en-IN" sz="5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Special Examples</a:t>
            </a:r>
          </a:p>
          <a:p>
            <a:pPr algn="l"/>
            <a:endParaRPr lang="en-IN" sz="5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true * false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true/false</a:t>
            </a: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//Infinity</a:t>
            </a: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 err="1">
                <a:solidFill>
                  <a:srgbClr val="FFFF00"/>
                </a:solidFill>
              </a:rPr>
              <a:t>true%true</a:t>
            </a:r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//0</a:t>
            </a:r>
          </a:p>
          <a:p>
            <a:pPr algn="l"/>
            <a:endParaRPr lang="en-US" sz="3200" b="1" dirty="0">
              <a:solidFill>
                <a:srgbClr val="FFFF00"/>
              </a:solidFill>
            </a:endParaRPr>
          </a:p>
          <a:p>
            <a:pPr algn="l"/>
            <a:endParaRPr lang="en-IN" sz="3200" b="1" dirty="0">
              <a:solidFill>
                <a:srgbClr val="FFFF00"/>
              </a:solidFill>
            </a:endParaRPr>
          </a:p>
          <a:p>
            <a:pPr algn="l"/>
            <a:r>
              <a:rPr lang="en-IN" sz="3200" b="1" dirty="0">
                <a:solidFill>
                  <a:srgbClr val="FFFF00"/>
                </a:solidFill>
              </a:rPr>
              <a:t>"</a:t>
            </a:r>
            <a:r>
              <a:rPr lang="en-US" sz="3200" b="1" dirty="0">
                <a:solidFill>
                  <a:srgbClr val="FFFF00"/>
                </a:solidFill>
              </a:rPr>
              <a:t>Bhopal</a:t>
            </a:r>
            <a:r>
              <a:rPr lang="en-IN" sz="3200" b="1" dirty="0">
                <a:solidFill>
                  <a:srgbClr val="FFFF00"/>
                </a:solidFill>
              </a:rPr>
              <a:t>" </a:t>
            </a:r>
            <a:r>
              <a:rPr lang="en-US" sz="3200" b="1" dirty="0">
                <a:solidFill>
                  <a:srgbClr val="FFFF00"/>
                </a:solidFill>
              </a:rPr>
              <a:t>/10</a:t>
            </a:r>
          </a:p>
          <a:p>
            <a:pPr algn="l"/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</a:t>
            </a:r>
            <a:r>
              <a:rPr lang="en-US" sz="3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NaN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l"/>
            <a:endParaRPr lang="en-IN" sz="32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en-IN" sz="5400" b="1" u="sng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Controlling Decimal Points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278394" y="2649415"/>
            <a:ext cx="19960614" cy="467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US" sz="4400" dirty="0"/>
              <a:t>Normally </a:t>
            </a:r>
            <a:r>
              <a:rPr lang="en-US" sz="4400" b="1" dirty="0">
                <a:solidFill>
                  <a:srgbClr val="FFC000"/>
                </a:solidFill>
              </a:rPr>
              <a:t>JS</a:t>
            </a:r>
            <a:r>
              <a:rPr lang="en-US" sz="4400" dirty="0"/>
              <a:t>, displays numeric values </a:t>
            </a:r>
            <a:r>
              <a:rPr lang="en-US" sz="44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upto</a:t>
            </a:r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16 decimal places </a:t>
            </a:r>
            <a:r>
              <a:rPr lang="en-US" sz="4400" dirty="0"/>
              <a:t>while displaying floats , </a:t>
            </a:r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leaving trailing zeros</a:t>
            </a:r>
            <a:r>
              <a:rPr lang="en-US" sz="4400" dirty="0"/>
              <a:t>.</a:t>
            </a:r>
          </a:p>
          <a:p>
            <a:pPr algn="l"/>
            <a:endParaRPr lang="en-US" sz="4400" dirty="0"/>
          </a:p>
          <a:p>
            <a:pPr algn="l"/>
            <a:r>
              <a:rPr lang="en-US" sz="4400" dirty="0"/>
              <a:t>To </a:t>
            </a:r>
            <a:r>
              <a:rPr lang="en-US" sz="4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understand this behavior </a:t>
            </a:r>
            <a:r>
              <a:rPr lang="en-US" sz="4400" dirty="0"/>
              <a:t>consider the following </a:t>
            </a:r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codes</a:t>
            </a:r>
            <a:r>
              <a:rPr lang="en-US" sz="4400" dirty="0"/>
              <a:t> and their </a:t>
            </a:r>
            <a:r>
              <a:rPr lang="en-US" sz="4400" b="1" dirty="0">
                <a:solidFill>
                  <a:srgbClr val="92D050"/>
                </a:solidFill>
              </a:rPr>
              <a:t>output</a:t>
            </a:r>
          </a:p>
          <a:p>
            <a:pPr algn="l"/>
            <a:endParaRPr lang="en-IN" sz="4000" b="1" dirty="0">
              <a:solidFill>
                <a:srgbClr val="FFFF00"/>
              </a:solidFill>
            </a:endParaRPr>
          </a:p>
          <a:p>
            <a:pPr algn="l"/>
            <a:endParaRPr lang="en-IN" sz="4400" dirty="0"/>
          </a:p>
          <a:p>
            <a:pPr algn="l"/>
            <a:endParaRPr lang="en-IN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706844" y="6200075"/>
            <a:ext cx="9306951" cy="68537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4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  <a:p>
            <a:pPr marL="0" indent="0" algn="l">
              <a:buNone/>
            </a:pPr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 x=10/3;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console.log(x)</a:t>
            </a:r>
          </a:p>
          <a:p>
            <a:pPr marL="0" indent="0" algn="l">
              <a:buNone/>
            </a:pPr>
            <a:r>
              <a:rPr lang="en-US" sz="3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//3.3333333333333335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x=10/4;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console.log(x)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//2.5</a:t>
            </a:r>
          </a:p>
          <a:p>
            <a:pPr marL="0" indent="0" algn="l">
              <a:buNone/>
            </a:pPr>
            <a:endParaRPr lang="en-US" sz="3200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x=3.0;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console.log(x)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//3</a:t>
            </a: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6844" y="6200075"/>
            <a:ext cx="12556273" cy="7069873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Controlling Decimal Points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8" name="Shape 1469"/>
          <p:cNvSpPr/>
          <p:nvPr/>
        </p:nvSpPr>
        <p:spPr>
          <a:xfrm>
            <a:off x="1278394" y="2649415"/>
            <a:ext cx="19960614" cy="4001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4800"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pPr algn="l"/>
            <a:r>
              <a:rPr lang="en-US" sz="4400" dirty="0"/>
              <a:t>To </a:t>
            </a:r>
            <a:r>
              <a:rPr lang="en-US" sz="4400" b="1" dirty="0">
                <a:solidFill>
                  <a:schemeClr val="accent3"/>
                </a:solidFill>
              </a:rPr>
              <a:t>control</a:t>
            </a:r>
            <a:r>
              <a:rPr lang="en-US" sz="4400" dirty="0"/>
              <a:t> this behavior , </a:t>
            </a:r>
            <a:r>
              <a:rPr lang="en-US" sz="4400" b="1" dirty="0">
                <a:solidFill>
                  <a:srgbClr val="FFC000"/>
                </a:solidFill>
              </a:rPr>
              <a:t>JS</a:t>
            </a:r>
            <a:r>
              <a:rPr lang="en-US" sz="4400" dirty="0"/>
              <a:t> provides us a </a:t>
            </a: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method</a:t>
            </a:r>
            <a:r>
              <a:rPr lang="en-US" sz="4400" dirty="0"/>
              <a:t> called </a:t>
            </a:r>
            <a:r>
              <a:rPr lang="en-US" sz="4400" b="1" dirty="0" err="1">
                <a:solidFill>
                  <a:srgbClr val="FFFF00"/>
                </a:solidFill>
              </a:rPr>
              <a:t>toFixed</a:t>
            </a:r>
            <a:r>
              <a:rPr lang="en-US" sz="4400" b="1" dirty="0">
                <a:solidFill>
                  <a:srgbClr val="FFFF00"/>
                </a:solidFill>
              </a:rPr>
              <a:t>() </a:t>
            </a:r>
            <a:r>
              <a:rPr lang="en-US" sz="4400" dirty="0"/>
              <a:t>for number type values , which can be used to </a:t>
            </a:r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write</a:t>
            </a:r>
            <a:r>
              <a:rPr lang="en-US" sz="4400" dirty="0"/>
              <a:t> a </a:t>
            </a:r>
            <a:r>
              <a:rPr lang="en-US" sz="44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number</a:t>
            </a:r>
            <a:r>
              <a:rPr lang="en-US" sz="4400" dirty="0"/>
              <a:t> with </a:t>
            </a:r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specified number of decimals</a:t>
            </a:r>
          </a:p>
          <a:p>
            <a:pPr algn="l"/>
            <a:endParaRPr lang="en-IN" sz="4000" b="1" dirty="0">
              <a:solidFill>
                <a:srgbClr val="FFFF00"/>
              </a:solidFill>
            </a:endParaRPr>
          </a:p>
          <a:p>
            <a:pPr algn="l"/>
            <a:endParaRPr lang="en-IN" sz="4400" dirty="0"/>
          </a:p>
          <a:p>
            <a:pPr algn="l"/>
            <a:endParaRPr lang="en-IN" sz="4400" dirty="0"/>
          </a:p>
        </p:txBody>
      </p:sp>
      <p:sp>
        <p:nvSpPr>
          <p:cNvPr id="9" name="TextBox 8"/>
          <p:cNvSpPr txBox="1"/>
          <p:nvPr/>
        </p:nvSpPr>
        <p:spPr>
          <a:xfrm>
            <a:off x="706844" y="6200075"/>
            <a:ext cx="9306951" cy="25449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40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Of </a:t>
            </a:r>
            <a:r>
              <a:rPr lang="en-US" sz="4000" b="1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toFixed</a:t>
            </a:r>
            <a:r>
              <a:rPr lang="en-US" sz="4000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)</a:t>
            </a:r>
          </a:p>
          <a:p>
            <a:pPr marL="0" indent="0" algn="l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IN" b="1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numericValue</a:t>
            </a:r>
            <a:r>
              <a:rPr lang="en-IN" b="1" dirty="0" err="1">
                <a:solidFill>
                  <a:srgbClr val="FFFF00"/>
                </a:solidFill>
              </a:rPr>
              <a:t>.toFixed</a:t>
            </a:r>
            <a:r>
              <a:rPr lang="en-IN" b="1" dirty="0">
                <a:solidFill>
                  <a:srgbClr val="FFFF00"/>
                </a:solidFill>
              </a:rPr>
              <a:t> (</a:t>
            </a:r>
            <a:r>
              <a:rPr lang="en-IN" b="1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some number</a:t>
            </a:r>
            <a:r>
              <a:rPr lang="en-IN" b="1" dirty="0">
                <a:solidFill>
                  <a:srgbClr val="FFFF00"/>
                </a:solidFill>
              </a:rPr>
              <a:t>)</a:t>
            </a:r>
          </a:p>
          <a:p>
            <a:pPr marL="0" indent="0" algn="l">
              <a:buNone/>
            </a:pPr>
            <a:endParaRPr lang="en-US" sz="4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6844" y="6200075"/>
            <a:ext cx="12556273" cy="7069873"/>
          </a:xfrm>
          <a:prstGeom prst="rect">
            <a:avLst/>
          </a:prstGeom>
          <a:noFill/>
          <a:ln w="12700" cap="flat">
            <a:solidFill>
              <a:schemeClr val="accent3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1456"/>
          <p:cNvSpPr/>
          <p:nvPr/>
        </p:nvSpPr>
        <p:spPr>
          <a:xfrm>
            <a:off x="706844" y="802888"/>
            <a:ext cx="22337517" cy="115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defRPr sz="5600" spc="-112">
                <a:latin typeface="+mn-lt"/>
                <a:ea typeface="+mn-ea"/>
                <a:cs typeface="+mn-cs"/>
                <a:sym typeface="Lato Light"/>
              </a:defRPr>
            </a:lvl1pPr>
          </a:lstStyle>
          <a:p>
            <a:pPr lvl="0" algn="ctr">
              <a:defRPr sz="1800" spc="0">
                <a:solidFill>
                  <a:srgbClr val="000000"/>
                </a:solidFill>
              </a:defRPr>
            </a:pPr>
            <a:r>
              <a:rPr lang="en-US" sz="6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Controlling Decimal Points</a:t>
            </a:r>
            <a:endParaRPr sz="6600" spc="-112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5151" y="2773176"/>
            <a:ext cx="9306951" cy="10300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indent="0" algn="l">
              <a:buNone/>
            </a:pPr>
            <a:r>
              <a:rPr lang="en-US" sz="4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  <a:p>
            <a:pPr marL="0" indent="0" algn="l">
              <a:buNone/>
            </a:pPr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 x=10/3;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</a:t>
            </a:r>
            <a:r>
              <a:rPr lang="en-US" sz="3200" b="1" dirty="0" err="1">
                <a:solidFill>
                  <a:srgbClr val="FFFF00"/>
                </a:solidFill>
              </a:rPr>
              <a:t>x.toFixed</a:t>
            </a:r>
            <a:r>
              <a:rPr lang="en-US" sz="3200" b="1" dirty="0">
                <a:solidFill>
                  <a:srgbClr val="FFFF00"/>
                </a:solidFill>
              </a:rPr>
              <a:t>(2))</a:t>
            </a:r>
          </a:p>
          <a:p>
            <a:pPr marL="0" indent="0" algn="l">
              <a:buNone/>
            </a:pPr>
            <a:r>
              <a:rPr lang="en-US" sz="3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//’3.33’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x=10/4;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</a:t>
            </a:r>
            <a:r>
              <a:rPr lang="en-US" sz="3200" b="1" dirty="0" err="1">
                <a:solidFill>
                  <a:srgbClr val="FFFF00"/>
                </a:solidFill>
              </a:rPr>
              <a:t>x.toFixed</a:t>
            </a:r>
            <a:r>
              <a:rPr lang="en-US" sz="3200" b="1" dirty="0">
                <a:solidFill>
                  <a:srgbClr val="FFFF00"/>
                </a:solidFill>
              </a:rPr>
              <a:t>(3))</a:t>
            </a:r>
          </a:p>
          <a:p>
            <a:pPr marL="0" indent="0" algn="l">
              <a:buNone/>
            </a:pPr>
            <a:r>
              <a:rPr lang="en-US" sz="3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//’2.500’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3200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x=3.0;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</a:t>
            </a:r>
            <a:r>
              <a:rPr lang="en-US" sz="3200" b="1" dirty="0" err="1">
                <a:solidFill>
                  <a:srgbClr val="FFFF00"/>
                </a:solidFill>
              </a:rPr>
              <a:t>x.toFixed</a:t>
            </a:r>
            <a:r>
              <a:rPr lang="en-US" sz="3200" b="1" dirty="0">
                <a:solidFill>
                  <a:srgbClr val="FFFF00"/>
                </a:solidFill>
              </a:rPr>
              <a:t>(1))</a:t>
            </a:r>
          </a:p>
          <a:p>
            <a:pPr marL="0" indent="0" algn="l">
              <a:buNone/>
            </a:pPr>
            <a:r>
              <a:rPr lang="en-US" sz="3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//’3.0’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3200" b="1" dirty="0">
              <a:solidFill>
                <a:srgbClr val="FFFF00"/>
              </a:solidFill>
            </a:endParaRP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x=10/3;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FFFF00"/>
                </a:solidFill>
              </a:rPr>
              <a:t>console.log(</a:t>
            </a:r>
            <a:r>
              <a:rPr lang="en-US" sz="3200" b="1" dirty="0" err="1">
                <a:solidFill>
                  <a:srgbClr val="FFFF00"/>
                </a:solidFill>
              </a:rPr>
              <a:t>x.toFixed</a:t>
            </a:r>
            <a:r>
              <a:rPr lang="en-US" sz="3200" b="1" dirty="0">
                <a:solidFill>
                  <a:srgbClr val="FFFF00"/>
                </a:solidFill>
              </a:rPr>
              <a:t>(0))</a:t>
            </a:r>
          </a:p>
          <a:p>
            <a:pPr marL="0" indent="0" algn="l">
              <a:buNone/>
            </a:pPr>
            <a:r>
              <a:rPr lang="en-US" sz="3200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//’3’</a:t>
            </a: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US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algn="l">
              <a:buNone/>
            </a:pPr>
            <a:endParaRPr lang="en-IN" sz="3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ignPainter-HouseScript"/>
        <a:ea typeface="SignPainter-HouseScript"/>
        <a:cs typeface="SignPainter-HouseScript"/>
      </a:majorFont>
      <a:minorFont>
        <a:latin typeface="Lato Light"/>
        <a:ea typeface="Lato Light"/>
        <a:cs typeface="Lat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5D328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Bold"/>
            <a:ea typeface="Lato Bold"/>
            <a:cs typeface="Lato Bold"/>
            <a:sym typeface="Lato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1574</Words>
  <Application>Microsoft Office PowerPoint</Application>
  <PresentationFormat>Custom</PresentationFormat>
  <Paragraphs>538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White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Comp08</dc:creator>
  <cp:lastModifiedBy>SCALive</cp:lastModifiedBy>
  <cp:revision>110</cp:revision>
  <dcterms:modified xsi:type="dcterms:W3CDTF">2023-09-06T15:32:59Z</dcterms:modified>
</cp:coreProperties>
</file>